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8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4035636da4b7f" /><Relationship Type="http://schemas.openxmlformats.org/officeDocument/2006/relationships/extended-properties" Target="/docProps/app.xml" Id="R75eff7a47a344c14" /><Relationship Type="http://schemas.openxmlformats.org/officeDocument/2006/relationships/officeDocument" Target="/ppt/presentation.xml" Id="Rccb984fa879748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1cff44e7343fa"/>
    <p:sldMasterId xmlns:r="http://schemas.openxmlformats.org/officeDocument/2006/relationships" id="2147483650" r:id="R09afa408f2754c8a"/>
    <p:sldMasterId xmlns:r="http://schemas.openxmlformats.org/officeDocument/2006/relationships" id="2147483654" r:id="R4ffe26fe869f440b"/>
    <p:sldMasterId xmlns:r="http://schemas.openxmlformats.org/officeDocument/2006/relationships" id="2147483658" r:id="R557d915bb8954bc9"/>
    <p:sldMasterId xmlns:r="http://schemas.openxmlformats.org/officeDocument/2006/relationships" id="2147483673" r:id="Rf1bd9ed897944a9f"/>
    <p:sldMasterId xmlns:r="http://schemas.openxmlformats.org/officeDocument/2006/relationships" id="2147483675" r:id="Rdb242a1973994c40"/>
  </p:sldMasterIdLst>
  <p:notesMasterIdLst>
    <p:notesMasterId xmlns:r="http://schemas.openxmlformats.org/officeDocument/2006/relationships" r:id="R35059e09746e4929"/>
  </p:notesMasterIdLst>
  <p:sldIdLst>
    <p:sldId xmlns:r="http://schemas.openxmlformats.org/officeDocument/2006/relationships" id="256" r:id="Rcebc100c50c64a7b"/>
    <p:sldId xmlns:r="http://schemas.openxmlformats.org/officeDocument/2006/relationships" id="257" r:id="Rff67e6f41c1a4004"/>
    <p:sldId xmlns:r="http://schemas.openxmlformats.org/officeDocument/2006/relationships" id="258" r:id="R48ffb90fea0944e2"/>
    <p:sldId xmlns:r="http://schemas.openxmlformats.org/officeDocument/2006/relationships" id="259" r:id="R93dd6176b3c84900"/>
    <p:sldId xmlns:r="http://schemas.openxmlformats.org/officeDocument/2006/relationships" id="260" r:id="R0dac1358c3bc4050"/>
    <p:sldId xmlns:r="http://schemas.openxmlformats.org/officeDocument/2006/relationships" id="261" r:id="R4223219549264859"/>
    <p:sldId xmlns:r="http://schemas.openxmlformats.org/officeDocument/2006/relationships" id="262" r:id="Rfd187dbf0bc349c9"/>
    <p:sldId xmlns:r="http://schemas.openxmlformats.org/officeDocument/2006/relationships" id="263" r:id="R9c37186ea2e54390"/>
    <p:sldId xmlns:r="http://schemas.openxmlformats.org/officeDocument/2006/relationships" id="264" r:id="Rbd1f5b5d50b9442b"/>
    <p:sldId xmlns:r="http://schemas.openxmlformats.org/officeDocument/2006/relationships" id="265" r:id="R5d517dd0495949f4"/>
    <p:sldId xmlns:r="http://schemas.openxmlformats.org/officeDocument/2006/relationships" id="266" r:id="Rcc47774906bc475f"/>
    <p:sldId xmlns:r="http://schemas.openxmlformats.org/officeDocument/2006/relationships" id="267" r:id="R36d11dc8efab4774"/>
    <p:sldId xmlns:r="http://schemas.openxmlformats.org/officeDocument/2006/relationships" id="268" r:id="R968b2382ad6e4ce6"/>
    <p:sldId xmlns:r="http://schemas.openxmlformats.org/officeDocument/2006/relationships" id="269" r:id="R1679924399224beb"/>
    <p:sldId xmlns:r="http://schemas.openxmlformats.org/officeDocument/2006/relationships" id="270" r:id="Reaa04d6f06684961"/>
    <p:sldId xmlns:r="http://schemas.openxmlformats.org/officeDocument/2006/relationships" id="271" r:id="R0722dbbaa566465a"/>
    <p:sldId xmlns:r="http://schemas.openxmlformats.org/officeDocument/2006/relationships" id="272" r:id="R5c89b12dba6441a1"/>
    <p:sldId xmlns:r="http://schemas.openxmlformats.org/officeDocument/2006/relationships" id="273" r:id="R9b598c5e774243f4"/>
    <p:sldId xmlns:r="http://schemas.openxmlformats.org/officeDocument/2006/relationships" id="274" r:id="R93dcc562ceb3450f"/>
    <p:sldId xmlns:r="http://schemas.openxmlformats.org/officeDocument/2006/relationships" id="275" r:id="Rf016571e2e514b3e"/>
    <p:sldId xmlns:r="http://schemas.openxmlformats.org/officeDocument/2006/relationships" id="276" r:id="R3493276e49564264"/>
    <p:sldId xmlns:r="http://schemas.openxmlformats.org/officeDocument/2006/relationships" id="277" r:id="Rf7cbd83b92f4425f"/>
    <p:sldId xmlns:r="http://schemas.openxmlformats.org/officeDocument/2006/relationships" id="278" r:id="Rf787c9c55f344b4e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6dbf0a1a7e431e" /><Relationship Type="http://schemas.openxmlformats.org/officeDocument/2006/relationships/slideMaster" Target="/ppt/slideMasters/slideMaster1.xml" Id="R1f71cff44e7343fa" /><Relationship Type="http://schemas.openxmlformats.org/officeDocument/2006/relationships/slideMaster" Target="/ppt/slideMasters/slideMaster2.xml" Id="R09afa408f2754c8a" /><Relationship Type="http://schemas.openxmlformats.org/officeDocument/2006/relationships/slideMaster" Target="/ppt/slideMasters/slideMaster3.xml" Id="R4ffe26fe869f440b" /><Relationship Type="http://schemas.openxmlformats.org/officeDocument/2006/relationships/slideMaster" Target="/ppt/slideMasters/slideMaster4.xml" Id="R557d915bb8954bc9" /><Relationship Type="http://schemas.openxmlformats.org/officeDocument/2006/relationships/slideMaster" Target="/ppt/slideMasters/slideMaster5.xml" Id="Rf1bd9ed897944a9f" /><Relationship Type="http://schemas.openxmlformats.org/officeDocument/2006/relationships/slideMaster" Target="/ppt/slideMasters/slideMaster6.xml" Id="Rdb242a1973994c40" /><Relationship Type="http://schemas.openxmlformats.org/officeDocument/2006/relationships/notesMaster" Target="/ppt/notesMasters/notesMaster1.xml" Id="R35059e09746e4929" /><Relationship Type="http://schemas.openxmlformats.org/officeDocument/2006/relationships/presProps" Target="/ppt/presProps.xml" Id="R475985fdef3f4166" /><Relationship Type="http://schemas.openxmlformats.org/officeDocument/2006/relationships/tableStyles" Target="/ppt/tableStyles.xml" Id="R669a4ccb59bc4134" /><Relationship Type="http://schemas.openxmlformats.org/officeDocument/2006/relationships/slide" Target="/ppt/slides/slide1.xml" Id="Rcebc100c50c64a7b" /><Relationship Type="http://schemas.openxmlformats.org/officeDocument/2006/relationships/slide" Target="/ppt/slides/slide2.xml" Id="Rff67e6f41c1a4004" /><Relationship Type="http://schemas.openxmlformats.org/officeDocument/2006/relationships/slide" Target="/ppt/slides/slide3.xml" Id="R48ffb90fea0944e2" /><Relationship Type="http://schemas.openxmlformats.org/officeDocument/2006/relationships/slide" Target="/ppt/slides/slide4.xml" Id="R93dd6176b3c84900" /><Relationship Type="http://schemas.openxmlformats.org/officeDocument/2006/relationships/slide" Target="/ppt/slides/slide5.xml" Id="R0dac1358c3bc4050" /><Relationship Type="http://schemas.openxmlformats.org/officeDocument/2006/relationships/slide" Target="/ppt/slides/slide6.xml" Id="R4223219549264859" /><Relationship Type="http://schemas.openxmlformats.org/officeDocument/2006/relationships/slide" Target="/ppt/slides/slide7.xml" Id="Rfd187dbf0bc349c9" /><Relationship Type="http://schemas.openxmlformats.org/officeDocument/2006/relationships/slide" Target="/ppt/slides/slide8.xml" Id="R9c37186ea2e54390" /><Relationship Type="http://schemas.openxmlformats.org/officeDocument/2006/relationships/slide" Target="/ppt/slides/slide9.xml" Id="Rbd1f5b5d50b9442b" /><Relationship Type="http://schemas.openxmlformats.org/officeDocument/2006/relationships/slide" Target="/ppt/slides/slide10.xml" Id="R5d517dd0495949f4" /><Relationship Type="http://schemas.openxmlformats.org/officeDocument/2006/relationships/slide" Target="/ppt/slides/slide11.xml" Id="Rcc47774906bc475f" /><Relationship Type="http://schemas.openxmlformats.org/officeDocument/2006/relationships/slide" Target="/ppt/slides/slide12.xml" Id="R36d11dc8efab4774" /><Relationship Type="http://schemas.openxmlformats.org/officeDocument/2006/relationships/slide" Target="/ppt/slides/slide13.xml" Id="R968b2382ad6e4ce6" /><Relationship Type="http://schemas.openxmlformats.org/officeDocument/2006/relationships/slide" Target="/ppt/slides/slide14.xml" Id="R1679924399224beb" /><Relationship Type="http://schemas.openxmlformats.org/officeDocument/2006/relationships/slide" Target="/ppt/slides/slide15.xml" Id="Reaa04d6f06684961" /><Relationship Type="http://schemas.openxmlformats.org/officeDocument/2006/relationships/slide" Target="/ppt/slides/slide16.xml" Id="R0722dbbaa566465a" /><Relationship Type="http://schemas.openxmlformats.org/officeDocument/2006/relationships/slide" Target="/ppt/slides/slide17.xml" Id="R5c89b12dba6441a1" /><Relationship Type="http://schemas.openxmlformats.org/officeDocument/2006/relationships/slide" Target="/ppt/slides/slide18.xml" Id="R9b598c5e774243f4" /><Relationship Type="http://schemas.openxmlformats.org/officeDocument/2006/relationships/slide" Target="/ppt/slides/slide19.xml" Id="R93dcc562ceb3450f" /><Relationship Type="http://schemas.openxmlformats.org/officeDocument/2006/relationships/slide" Target="/ppt/slides/slide20.xml" Id="Rf016571e2e514b3e" /><Relationship Type="http://schemas.openxmlformats.org/officeDocument/2006/relationships/slide" Target="/ppt/slides/slide21.xml" Id="R3493276e49564264" /><Relationship Type="http://schemas.openxmlformats.org/officeDocument/2006/relationships/slide" Target="/ppt/slides/slide22.xml" Id="Rf7cbd83b92f4425f" /><Relationship Type="http://schemas.openxmlformats.org/officeDocument/2006/relationships/slide" Target="/ppt/slides/slide23.xml" Id="Rf787c9c55f34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8.xml" Id="R56e4830b03ca4b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8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90c9fd407b4b76" /><Relationship Type="http://schemas.openxmlformats.org/officeDocument/2006/relationships/notesMaster" Target="/ppt/notesMasters/notesMaster1.xml" Id="Ra9795eedea694c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bbc1cb2734e7e" /><Relationship Type="http://schemas.openxmlformats.org/officeDocument/2006/relationships/notesMaster" Target="/ppt/notesMasters/notesMaster1.xml" Id="R556a438547e542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b065fa138c4f02" /><Relationship Type="http://schemas.openxmlformats.org/officeDocument/2006/relationships/notesMaster" Target="/ppt/notesMasters/notesMaster1.xml" Id="Ra51ee9122bb04f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476a70176f4cb1" /><Relationship Type="http://schemas.openxmlformats.org/officeDocument/2006/relationships/notesMaster" Target="/ppt/notesMasters/notesMaster1.xml" Id="R7eb021abeeb24a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3e87ed1ed34af9" /><Relationship Type="http://schemas.openxmlformats.org/officeDocument/2006/relationships/notesMaster" Target="/ppt/notesMasters/notesMaster1.xml" Id="R7eda5d51dbc04e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5deb16ed4247eb" /><Relationship Type="http://schemas.openxmlformats.org/officeDocument/2006/relationships/notesMaster" Target="/ppt/notesMasters/notesMaster1.xml" Id="R7f94c1e273a44c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e572ef99634b8e" /><Relationship Type="http://schemas.openxmlformats.org/officeDocument/2006/relationships/notesMaster" Target="/ppt/notesMasters/notesMaster1.xml" Id="Re60a6ef9972c44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0c5aa34f9e4be0" /><Relationship Type="http://schemas.openxmlformats.org/officeDocument/2006/relationships/notesMaster" Target="/ppt/notesMasters/notesMaster1.xml" Id="Ree6f3b81223844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f1139a92d64321" /><Relationship Type="http://schemas.openxmlformats.org/officeDocument/2006/relationships/notesMaster" Target="/ppt/notesMasters/notesMaster1.xml" Id="R86c0ae58755c40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7290d7810e488d" /><Relationship Type="http://schemas.openxmlformats.org/officeDocument/2006/relationships/notesMaster" Target="/ppt/notesMasters/notesMaster1.xml" Id="R2279354caadb47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0e020b2e5a44ee" /><Relationship Type="http://schemas.openxmlformats.org/officeDocument/2006/relationships/notesMaster" Target="/ppt/notesMasters/notesMaster1.xml" Id="R45cefa4fd4b34a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1f8882694b42e4" /><Relationship Type="http://schemas.openxmlformats.org/officeDocument/2006/relationships/notesMaster" Target="/ppt/notesMasters/notesMaster1.xml" Id="Rb92e394c35044cc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ba75a892e445ad" /><Relationship Type="http://schemas.openxmlformats.org/officeDocument/2006/relationships/notesMaster" Target="/ppt/notesMasters/notesMaster1.xml" Id="R29f4bd62b28844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88b7d6ba4e4346" /><Relationship Type="http://schemas.openxmlformats.org/officeDocument/2006/relationships/notesMaster" Target="/ppt/notesMasters/notesMaster1.xml" Id="R5df20ee70c9841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fa86a277094ae2" /><Relationship Type="http://schemas.openxmlformats.org/officeDocument/2006/relationships/notesMaster" Target="/ppt/notesMasters/notesMaster1.xml" Id="R59d597f13fbf4e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d163f14ea1471f" /><Relationship Type="http://schemas.openxmlformats.org/officeDocument/2006/relationships/notesMaster" Target="/ppt/notesMasters/notesMaster1.xml" Id="R27ebed32002f41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36a9095997248b4" /><Relationship Type="http://schemas.openxmlformats.org/officeDocument/2006/relationships/notesMaster" Target="/ppt/notesMasters/notesMaster1.xml" Id="R59ba0d3510d94f2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7ec4e4468464bd6" /><Relationship Type="http://schemas.openxmlformats.org/officeDocument/2006/relationships/notesMaster" Target="/ppt/notesMasters/notesMaster1.xml" Id="Rbea21fefcf6540c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d1d1d60c684bfc" /><Relationship Type="http://schemas.openxmlformats.org/officeDocument/2006/relationships/notesMaster" Target="/ppt/notesMasters/notesMaster1.xml" Id="R32bb38ba81ae4a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91b21af9f2498d" /><Relationship Type="http://schemas.openxmlformats.org/officeDocument/2006/relationships/notesMaster" Target="/ppt/notesMasters/notesMaster1.xml" Id="R8244724df0fe4a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47bc955c6141eb" /><Relationship Type="http://schemas.openxmlformats.org/officeDocument/2006/relationships/notesMaster" Target="/ppt/notesMasters/notesMaster1.xml" Id="Rd9eb9685d07643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1dc2510973941df" /><Relationship Type="http://schemas.openxmlformats.org/officeDocument/2006/relationships/notesMaster" Target="/ppt/notesMasters/notesMaster1.xml" Id="R46bc68b9a7f042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73570802604275" /><Relationship Type="http://schemas.openxmlformats.org/officeDocument/2006/relationships/notesMaster" Target="/ppt/notesMasters/notesMaster1.xml" Id="R779ec5eeb4ef45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this slide for photo-led covers. Replace the full-slide image and keep the title to two lines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hero-cages.jpg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this slide for formal covers. The gradient spiral is the only approved use of amber in the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gradient spiral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only authoring guide slide. Delete it before sending or presenting the client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agendas of three to five sections. Keep section labels short and write the third column as an audience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Duplicate for major section breaks. Use a short title—ideally one to four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Sea Foam spiral asset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 single high-level claim, mission, vision or recommendation. Keep the supporting sentence to two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an executive narrative or company overview. Aim for three short paragraphs and one proof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two parallel arguments, current/future states or complementary workstreams. Keep the columns balanced.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image-led evidence with four or fewer supporting bullets. Replace the image using Change Picture to preserve the crop.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1_offshore_ops.jpg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when the narrative should lead and the image should validate it. Replace the image using Change Picture.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6_team_coldchain.jpg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 verified testimonial, quotation or high-confidence proof point. Never invent quotes; replace the attribution before presenting.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2_fresh_at_port.jpg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three or four key figures. Keep units separate from values so the hierarchy stays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three to five sequential stages. Connectors sit behind nodes; keep every step to one short title and one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three to five milestones. Keep dates above the line and implications below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presentation 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categorical comparisons or phased scale-up. The chart is native and editable in PowerPoint.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presentation 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trends over time with one or two series. The example job progression is illustrative template data; replace before presenting.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whole-to-part analysis with three to five segments. The chart is native and editable in PowerPoint.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presentation 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two alternatives, current/future states or build/buy choices. Keep both sides parallel and make the recommendation explicit only when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plans, responsibilities, requirements or concise data. The table is native and editable in PowerPoint.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presentation 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 location, facility or market-access story. Replace the image with a verified map or site photograph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5_coast_sovereignty.jpg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 founder, executive, project lead or client contact. Replace the placeholder name and verified photograph before presenting.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3_women_searulea.jpg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for a three-image evidence sequence. Keep crops consistent and write captions that explain what each image proves.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environment photography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as the closing synthesis and contact slide. Replace placeholder contact details with verified client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SEARULEA brand guideline</a:t>
            </a:r>
          </a:p>
          <a:p xmlns:a="http://schemas.openxmlformats.org/drawingml/2006/main">
            <a:r>
              <a:t>- User-provided SEARULEA Sea Foam spiral and logo 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89bc25c7c4e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7a39c3a91d40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c3f1fe80ac4a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1209645e63245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31e23c2a3e04b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be07a46ab7444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da3a288ad8a4b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e150022a6ef476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858f8cfd07c426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d33c27437d042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a6adb7a0b38b42f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5c8b5a05b641a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f15c7821806486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5b7d688724d474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1c3b8d36cc84d2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ef02f70deb84f1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151ca878b0e404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4135d6083e5417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a4b24f4c8874ec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d1af3f052144f6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254bdb14186411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34da8e3bad4b416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74fd9632f0e5406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25681a7476f4d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— Cover /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67C67EB-FF76-4562-A60A-4FC5CC406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Month Year · Presenter · Confidential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— Cover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CE02D656-3A0D-4C18-B254-B6DB38B4BC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Month Year · Presenter · Confidential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— Template Gu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F2000A3-136A-46D0-8DA8-7FA8A658B6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— 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DD2D992-63FD-4E87-B4CF-C9FA60C5D7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— Section Divider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C2E586F-2DE7-4103-AE0F-BD928CB560D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485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A short line that sets up the next chapter.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— Statement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94F7051-D043-4B4D-A51E-3B0BFD62B2B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5638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Use one supporting sentence to turn the statement into a clear business implication.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07 — Narrative / Singl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F0263B2-2676-4E83-98D7-53068232DCA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2000250"/>
            <a:ext cx="9810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Narrative body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08 — Narrative /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7BFA9F1C-76C0-49B9-95A0-910BB4250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05650" y="2076450"/>
            <a:ext cx="5619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Right column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09 — Image Left / Text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7227517-CC7B-4F44-AE58-3A2FA7EDB10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9000" y="2343150"/>
            <a:ext cx="53816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Supporting copy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10 — Text Left /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FF14065-E1A4-4977-80E6-1DF44090D80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230505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Supporting copy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11 — Photo / 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7DF179D-4B76-493C-AEF3-BBEF49A8317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800100" y="659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Name · Role · Organisation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12 — Key Figures / Sea Fo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2E9C1D8-70D7-42CF-B276-C8DD322EC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13 — Process / Four Step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F6E2C85-0C04-451D-8F23-63014A3A54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14 — Timeline / Mileston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945F3E8-9486-4B9F-8120-88B13D23E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15 — Chart / Full Width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2B87F6D-7EFE-4AEB-8078-02BE6F5633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16 — Chart / Commentar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E432D5B-9E71-46FF-8AA0-8924F477659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9525000" y="2266950"/>
            <a:ext cx="3143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Chart commentary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17 — Chart / Doughn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2C18D7F-F748-441D-91BD-71450BD40D0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524750" y="2247900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8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Headline and implication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18 — Comparison / Two Op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C54CC338-8652-41A9-A183-B663B85708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19 — Data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A65DCB7-CC25-4CD7-9D13-1C5141BBA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20 — Location / Si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A70D95F-31ED-4E02-BB63-67AE2A8E4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42950" y="22669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Location narrative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21 — Profile / Leadershi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9E86ADCF-0328-480D-8CB3-F11823FB8BD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143750" y="3390900"/>
            <a:ext cx="5381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Profile narrative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>
  <p:cSld name="22 — Gallery / Three Imag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2C00756-4B6C-45E0-961D-4A9446B06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36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Slide title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>
  <p:cSld name="23 — Closing / Deep Se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1264C27-FADB-468D-9407-E895E59179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7239000" y="60579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hello@searulea.com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www.searulea.com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5c212a4d704aa2" /><Relationship Type="http://schemas.openxmlformats.org/officeDocument/2006/relationships/slideLayout" Target="/ppt/slideLayouts/slideLayout1.xml" Id="R76f93f227d1846c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b1f4ec926704649" /><Relationship Type="http://schemas.openxmlformats.org/officeDocument/2006/relationships/slideLayout" Target="/ppt/slideLayouts/slideLayout2.xml" Id="R7f775a454f8b417c" /><Relationship Type="http://schemas.openxmlformats.org/officeDocument/2006/relationships/slideLayout" Target="/ppt/slideLayouts/slideLayout3.xml" Id="R5c91ca41a6c54a75" /><Relationship Type="http://schemas.openxmlformats.org/officeDocument/2006/relationships/slideLayout" Target="/ppt/slideLayouts/slideLayout12.xml" Id="R475268562ff647a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33b6371cd294603" /><Relationship Type="http://schemas.openxmlformats.org/officeDocument/2006/relationships/slideLayout" Target="/ppt/slideLayouts/slideLayout6.xml" Id="Re9ba70d7f6b54205" /><Relationship Type="http://schemas.openxmlformats.org/officeDocument/2006/relationships/slideLayout" Target="/ppt/slideLayouts/slideLayout7.xml" Id="R440c34115d764151" /><Relationship Type="http://schemas.openxmlformats.org/officeDocument/2006/relationships/slideLayout" Target="/ppt/slideLayouts/slideLayout24.xml" Id="R119bb06accfc464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f549af78032d450e" /><Relationship Type="http://schemas.openxmlformats.org/officeDocument/2006/relationships/theme" Target="/ppt/slideMasters/theme/theme5.xml" Id="R614638e4031b409b" /><Relationship Type="http://schemas.openxmlformats.org/officeDocument/2006/relationships/slideLayout" Target="/ppt/slideLayouts/slideLayout4.xml" Id="Rc713a49c36e34db8" /><Relationship Type="http://schemas.openxmlformats.org/officeDocument/2006/relationships/slideLayout" Target="/ppt/slideLayouts/slideLayout5.xml" Id="R386c80fdf5df4bb9" /><Relationship Type="http://schemas.openxmlformats.org/officeDocument/2006/relationships/slideLayout" Target="/ppt/slideLayouts/slideLayout8.xml" Id="Re49695afe8d742df" /><Relationship Type="http://schemas.openxmlformats.org/officeDocument/2006/relationships/slideLayout" Target="/ppt/slideLayouts/slideLayout9.xml" Id="R04c7f9ad70e2475f" /><Relationship Type="http://schemas.openxmlformats.org/officeDocument/2006/relationships/slideLayout" Target="/ppt/slideLayouts/slideLayout10.xml" Id="R35801a686cf64629" /><Relationship Type="http://schemas.openxmlformats.org/officeDocument/2006/relationships/slideLayout" Target="/ppt/slideLayouts/slideLayout14.xml" Id="R553f9ff1810b43be" /><Relationship Type="http://schemas.openxmlformats.org/officeDocument/2006/relationships/slideLayout" Target="/ppt/slideLayouts/slideLayout15.xml" Id="Rc13bd3eb84ca4408" /><Relationship Type="http://schemas.openxmlformats.org/officeDocument/2006/relationships/slideLayout" Target="/ppt/slideLayouts/slideLayout16.xml" Id="R23ca65d642e54eb1" /><Relationship Type="http://schemas.openxmlformats.org/officeDocument/2006/relationships/slideLayout" Target="/ppt/slideLayouts/slideLayout17.xml" Id="Rd33de3793faa4c60" /><Relationship Type="http://schemas.openxmlformats.org/officeDocument/2006/relationships/slideLayout" Target="/ppt/slideLayouts/slideLayout18.xml" Id="Refbc8063b34f4406" /><Relationship Type="http://schemas.openxmlformats.org/officeDocument/2006/relationships/slideLayout" Target="/ppt/slideLayouts/slideLayout19.xml" Id="R863c111b4bb84ab3" /><Relationship Type="http://schemas.openxmlformats.org/officeDocument/2006/relationships/slideLayout" Target="/ppt/slideLayouts/slideLayout20.xml" Id="R6423561c905f48f8" /><Relationship Type="http://schemas.openxmlformats.org/officeDocument/2006/relationships/slideLayout" Target="/ppt/slideLayouts/slideLayout21.xml" Id="R2255f216803b4c75" /><Relationship Type="http://schemas.openxmlformats.org/officeDocument/2006/relationships/slideLayout" Target="/ppt/slideLayouts/slideLayout23.xml" Id="R57e8fdcc46474cd2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2.png" Id="R694d0121a1744e57" /><Relationship Type="http://schemas.openxmlformats.org/officeDocument/2006/relationships/theme" Target="/ppt/slideMasters/theme/theme6.xml" Id="R67322900aca740e8" /><Relationship Type="http://schemas.openxmlformats.org/officeDocument/2006/relationships/slideLayout" Target="/ppt/slideLayouts/slideLayout13.xml" Id="R8d2976fc9261435e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3.png" Id="Ra097059342ee4df1" /><Relationship Type="http://schemas.openxmlformats.org/officeDocument/2006/relationships/theme" Target="/ppt/slideMasters/theme/theme7.xml" Id="R4db9f14993434af5" /><Relationship Type="http://schemas.openxmlformats.org/officeDocument/2006/relationships/slideLayout" Target="/ppt/slideLayouts/slideLayout11.xml" Id="Rba4c0a018a0b47ba" /><Relationship Type="http://schemas.openxmlformats.org/officeDocument/2006/relationships/slideLayout" Target="/ppt/slideLayouts/slideLayout22.xml" Id="Rb09403d42599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f93f227d18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EARULEA / Cover">
    <p:bg>
      <p:bgPr>
        <a:solidFill xmlns:a="http://schemas.openxmlformats.org/drawingml/2006/main">
          <a:srgbClr val="0741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7f775a454f8b417c"/>
    <p:sldLayoutId xmlns:r="http://schemas.openxmlformats.org/officeDocument/2006/relationships" id="2147483652" r:id="R5c91ca41a6c54a75"/>
    <p:sldLayoutId xmlns:r="http://schemas.openxmlformats.org/officeDocument/2006/relationships" id="2147483653" r:id="R475268562ff647a8"/>
  </p:sldLayoutIdLst>
</p:sldMaster>
</file>

<file path=ppt/slideMasters/slideMaster3.xml><?xml version="1.0" encoding="utf-8"?>
<p:sldMaster xmlns:p="http://schemas.openxmlformats.org/presentationml/2006/main">
  <p:cSld name="SEARULEA / Deep Sea">
    <p:bg>
      <p:bgPr>
        <a:solidFill xmlns:a="http://schemas.openxmlformats.org/drawingml/2006/main">
          <a:srgbClr val="0741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ARULEA / Deep Sea-footer-label">
            <a:extLst xmlns:a="http://schemas.openxmlformats.org/drawingml/2006/main">
              <a:ext uri="{FF2B5EF4-FFF2-40B4-BE49-F238E27FC236}">
                <a16:creationId xmlns:a16="http://schemas.microsoft.com/office/drawing/2014/main" id="{736C9BA4-B205-40AB-B4DA-939E476E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866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rPr sz="975" b="1" i="0">
                <a:solidFill>
                  <a:srgbClr val="D0E7ED"/>
                </a:solidFill>
                <a:latin typeface="DM Sans"/>
                <a:ea typeface="DM Sans"/>
                <a:cs typeface="DM Sans"/>
              </a:rPr>
              <a:t>SEARULEA — Client presentation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e9ba70d7f6b54205"/>
    <p:sldLayoutId xmlns:r="http://schemas.openxmlformats.org/officeDocument/2006/relationships" id="2147483656" r:id="R440c34115d764151"/>
    <p:sldLayoutId xmlns:r="http://schemas.openxmlformats.org/officeDocument/2006/relationships" id="2147483657" r:id="R119bb06accfc4645"/>
  </p:sldLayoutIdLst>
</p:sldMaster>
</file>

<file path=ppt/slideMasters/slideMaster4.xml><?xml version="1.0" encoding="utf-8"?>
<p:sldMaster xmlns:p="http://schemas.openxmlformats.org/presentationml/2006/main">
  <p:cSld name="SEARULEA / Pearl">
    <p:bg>
      <p:bgPr>
        <a:solidFill xmlns:a="http://schemas.openxmlformats.org/drawingml/2006/main">
          <a:srgbClr val="FBF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9af78032d450e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c713a49c36e34db8"/>
    <p:sldLayoutId xmlns:r="http://schemas.openxmlformats.org/officeDocument/2006/relationships" id="2147483660" r:id="R386c80fdf5df4bb9"/>
    <p:sldLayoutId xmlns:r="http://schemas.openxmlformats.org/officeDocument/2006/relationships" id="2147483661" r:id="Re49695afe8d742df"/>
    <p:sldLayoutId xmlns:r="http://schemas.openxmlformats.org/officeDocument/2006/relationships" id="2147483662" r:id="R04c7f9ad70e2475f"/>
    <p:sldLayoutId xmlns:r="http://schemas.openxmlformats.org/officeDocument/2006/relationships" id="2147483663" r:id="R35801a686cf64629"/>
    <p:sldLayoutId xmlns:r="http://schemas.openxmlformats.org/officeDocument/2006/relationships" id="2147483664" r:id="R553f9ff1810b43be"/>
    <p:sldLayoutId xmlns:r="http://schemas.openxmlformats.org/officeDocument/2006/relationships" id="2147483665" r:id="Rc13bd3eb84ca4408"/>
    <p:sldLayoutId xmlns:r="http://schemas.openxmlformats.org/officeDocument/2006/relationships" id="2147483666" r:id="R23ca65d642e54eb1"/>
    <p:sldLayoutId xmlns:r="http://schemas.openxmlformats.org/officeDocument/2006/relationships" id="2147483667" r:id="Rd33de3793faa4c60"/>
    <p:sldLayoutId xmlns:r="http://schemas.openxmlformats.org/officeDocument/2006/relationships" id="2147483668" r:id="Refbc8063b34f4406"/>
    <p:sldLayoutId xmlns:r="http://schemas.openxmlformats.org/officeDocument/2006/relationships" id="2147483669" r:id="R863c111b4bb84ab3"/>
    <p:sldLayoutId xmlns:r="http://schemas.openxmlformats.org/officeDocument/2006/relationships" id="2147483670" r:id="R6423561c905f48f8"/>
    <p:sldLayoutId xmlns:r="http://schemas.openxmlformats.org/officeDocument/2006/relationships" id="2147483671" r:id="R2255f216803b4c75"/>
    <p:sldLayoutId xmlns:r="http://schemas.openxmlformats.org/officeDocument/2006/relationships" id="2147483672" r:id="R57e8fdcc46474cd2"/>
  </p:sldLayoutIdLst>
</p:sldMaster>
</file>

<file path=ppt/slideMasters/slideMaster5.xml><?xml version="1.0" encoding="utf-8"?>
<p:sldMaster xmlns:p="http://schemas.openxmlformats.org/presentationml/2006/main">
  <p:cSld name="SEARULEA / Sea Foam">
    <p:bg>
      <p:bgPr>
        <a:solidFill xmlns:a="http://schemas.openxmlformats.org/drawingml/2006/main">
          <a:srgbClr val="D0E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d0121a1744e57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8d2976fc9261435e"/>
  </p:sldLayoutIdLst>
</p:sldMaster>
</file>

<file path=ppt/slideMasters/slideMaster6.xml><?xml version="1.0" encoding="utf-8"?>
<p:sldMaster xmlns:p="http://schemas.openxmlformats.org/presentationml/2006/main">
  <p:cSld name="SEARULEA / Shore">
    <p:bg>
      <p:bgPr>
        <a:solidFill xmlns:a="http://schemas.openxmlformats.org/drawingml/2006/main">
          <a:srgbClr val="EFE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7059342ee4df1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6" r:id="Rba4c0a018a0b47ba"/>
    <p:sldLayoutId xmlns:r="http://schemas.openxmlformats.org/officeDocument/2006/relationships" id="2147483677" r:id="Rb09403d4259948d7"/>
  </p:sldLayoutIdLst>
</p:sldMaster>
</file>

<file path=ppt/slideMasters/theme/theme2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5b8047e22c4ac4" /><Relationship Type="http://schemas.openxmlformats.org/officeDocument/2006/relationships/image" Target="/ppt/media/image4.png" Id="R246ed038554c4236" /><Relationship Type="http://schemas.openxmlformats.org/officeDocument/2006/relationships/image" Target="/ppt/media/image5.png" Id="R0b16461afea5468d" /><Relationship Type="http://schemas.openxmlformats.org/officeDocument/2006/relationships/notesSlide" Target="/ppt/notesSlides/notesSlide1.xml" Id="R75a0950e00d746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5de745beb74618" /><Relationship Type="http://schemas.openxmlformats.org/officeDocument/2006/relationships/image" Target="/ppt/media/image6.png" Id="R1e9489c2757b41a2" /><Relationship Type="http://schemas.openxmlformats.org/officeDocument/2006/relationships/image" Target="/ppt/media/image7.png" Id="R9ac0747cdad14d8e" /><Relationship Type="http://schemas.openxmlformats.org/officeDocument/2006/relationships/notesSlide" Target="/ppt/notesSlides/notesSlide2.xml" Id="R69deff9fb90444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9fdce89fdf54b93" /><Relationship Type="http://schemas.openxmlformats.org/officeDocument/2006/relationships/notesSlide" Target="/ppt/notesSlides/notesSlide3.xml" Id="Rc3b35046a7784f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e6f4354f70b4def" /><Relationship Type="http://schemas.openxmlformats.org/officeDocument/2006/relationships/notesSlide" Target="/ppt/notesSlides/notesSlide4.xml" Id="R56028f60033c43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12c24fb06c49a3" /><Relationship Type="http://schemas.openxmlformats.org/officeDocument/2006/relationships/image" Target="/ppt/media/image8.png" Id="R2f9a38d334b6432d" /><Relationship Type="http://schemas.openxmlformats.org/officeDocument/2006/relationships/image" Target="/ppt/media/image9.png" Id="R032bc535278a4a03" /><Relationship Type="http://schemas.openxmlformats.org/officeDocument/2006/relationships/notesSlide" Target="/ppt/notesSlides/notesSlide5.xml" Id="R0fca22eec6a04f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c256739a034daf" /><Relationship Type="http://schemas.openxmlformats.org/officeDocument/2006/relationships/image" Target="/ppt/media/image10.png" Id="Rd816d067ee8f49f2" /><Relationship Type="http://schemas.openxmlformats.org/officeDocument/2006/relationships/notesSlide" Target="/ppt/notesSlides/notesSlide6.xml" Id="R56ca5b6fc19944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8d170d870d84ad3" /><Relationship Type="http://schemas.openxmlformats.org/officeDocument/2006/relationships/notesSlide" Target="/ppt/notesSlides/notesSlide7.xml" Id="Rbcb6b6b24a0e42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a854e92e82a24bf1" /><Relationship Type="http://schemas.openxmlformats.org/officeDocument/2006/relationships/notesSlide" Target="/ppt/notesSlides/notesSlide8.xml" Id="R6d4ccd7cae944d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c3b83b593024715" /><Relationship Type="http://schemas.openxmlformats.org/officeDocument/2006/relationships/image" Target="/ppt/media/image.jpeg" Id="Ra80402f694fb4e63" /><Relationship Type="http://schemas.openxmlformats.org/officeDocument/2006/relationships/notesSlide" Target="/ppt/notesSlides/notesSlide9.xml" Id="Re689c52916f942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602a60ddc5254849" /><Relationship Type="http://schemas.openxmlformats.org/officeDocument/2006/relationships/image" Target="/ppt/media/image2.jpeg" Id="Rda36bdfee049433a" /><Relationship Type="http://schemas.openxmlformats.org/officeDocument/2006/relationships/notesSlide" Target="/ppt/notesSlides/notesSlide10.xml" Id="Re560463e5f534d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ad0f8ce89b46c2" /><Relationship Type="http://schemas.openxmlformats.org/officeDocument/2006/relationships/image" Target="/ppt/media/image3.jpeg" Id="R305c319dd4dd43c0" /><Relationship Type="http://schemas.openxmlformats.org/officeDocument/2006/relationships/image" Target="/ppt/media/image11.png" Id="R2014d5f8472d4196" /><Relationship Type="http://schemas.openxmlformats.org/officeDocument/2006/relationships/notesSlide" Target="/ppt/notesSlides/notesSlide11.xml" Id="R9c5c9094083348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edc086c6fc149c7" /><Relationship Type="http://schemas.openxmlformats.org/officeDocument/2006/relationships/notesSlide" Target="/ppt/notesSlides/notesSlide12.xml" Id="R76cd4259054140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6ef1ef20355451a" /><Relationship Type="http://schemas.openxmlformats.org/officeDocument/2006/relationships/notesSlide" Target="/ppt/notesSlides/notesSlide13.xml" Id="Rf6b39f3ac5274a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82247f3d9f34060" /><Relationship Type="http://schemas.openxmlformats.org/officeDocument/2006/relationships/notesSlide" Target="/ppt/notesSlides/notesSlide14.xml" Id="Raea16f7f824c47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0fe50a34d95411e" /><Relationship Type="http://schemas.openxmlformats.org/officeDocument/2006/relationships/chart" Target="/ppt/slides/charts/chart1.xml" Id="Rc3a503724d2b4b9f" /><Relationship Type="http://schemas.openxmlformats.org/officeDocument/2006/relationships/notesSlide" Target="/ppt/notesSlides/notesSlide15.xml" Id="Rb08778cc14b6487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e88922988034147" /><Relationship Type="http://schemas.openxmlformats.org/officeDocument/2006/relationships/chart" Target="/ppt/slides/charts/chart2.xml" Id="Ra3442663ac084a64" /><Relationship Type="http://schemas.openxmlformats.org/officeDocument/2006/relationships/notesSlide" Target="/ppt/notesSlides/notesSlide16.xml" Id="R8d6b878fcccd4d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d1f3cd976b14e0d" /><Relationship Type="http://schemas.openxmlformats.org/officeDocument/2006/relationships/chart" Target="/ppt/slides/charts/chart3.xml" Id="Rb2d214fa5e6147ea" /><Relationship Type="http://schemas.openxmlformats.org/officeDocument/2006/relationships/notesSlide" Target="/ppt/notesSlides/notesSlide17.xml" Id="Re6ffe26e705941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3292c9b391464a47" /><Relationship Type="http://schemas.openxmlformats.org/officeDocument/2006/relationships/notesSlide" Target="/ppt/notesSlides/notesSlide18.xml" Id="R34f698d11931413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615d3c3ffc164f94" /><Relationship Type="http://schemas.openxmlformats.org/officeDocument/2006/relationships/notesSlide" Target="/ppt/notesSlides/notesSlide19.xml" Id="Rffa55b4df069431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ede573bc6e5e45c5" /><Relationship Type="http://schemas.openxmlformats.org/officeDocument/2006/relationships/image" Target="/ppt/media/image4.jpeg" Id="Rbd0f93dbaa864f25" /><Relationship Type="http://schemas.openxmlformats.org/officeDocument/2006/relationships/notesSlide" Target="/ppt/notesSlides/notesSlide20.xml" Id="Rb3636e9066a94ae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d099db8815c04bbb" /><Relationship Type="http://schemas.openxmlformats.org/officeDocument/2006/relationships/image" Target="/ppt/media/image5.jpeg" Id="Rbe0c905804644c06" /><Relationship Type="http://schemas.openxmlformats.org/officeDocument/2006/relationships/notesSlide" Target="/ppt/notesSlides/notesSlide21.xml" Id="Rc99e58f06039454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bd065617772c4889" /><Relationship Type="http://schemas.openxmlformats.org/officeDocument/2006/relationships/image" Target="/ppt/media/image6.jpeg" Id="R79c2761d08bb4355" /><Relationship Type="http://schemas.openxmlformats.org/officeDocument/2006/relationships/image" Target="/ppt/media/image7.jpeg" Id="Rc251cf5236814fc4" /><Relationship Type="http://schemas.openxmlformats.org/officeDocument/2006/relationships/image" Target="/ppt/media/image8.jpeg" Id="R841eb18bc9e3493f" /><Relationship Type="http://schemas.openxmlformats.org/officeDocument/2006/relationships/notesSlide" Target="/ppt/notesSlides/notesSlide22.xml" Id="Rd7f39b93f60348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afa8166ec8d4604" /><Relationship Type="http://schemas.openxmlformats.org/officeDocument/2006/relationships/image" Target="/ppt/media/image12.png" Id="R1c46b863cab7458e" /><Relationship Type="http://schemas.openxmlformats.org/officeDocument/2006/relationships/image" Target="/ppt/media/image13.png" Id="Rd81093a88be645eb" /><Relationship Type="http://schemas.openxmlformats.org/officeDocument/2006/relationships/notesSlide" Target="/ppt/notesSlides/notesSlide23.xml" Id="R37db0902ce7747e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Annual net capacity (t)</c:v>
          </c:tx>
          <c:spPr>
            <a:solidFill xmlns:a="http://schemas.openxmlformats.org/drawingml/2006/main">
              <a:srgbClr val="0A6887"/>
            </a:solidFill>
          </c:spPr>
          <c:cat>
            <c:numLit>
              <c:formatCode>General</c:formatCode>
              <c:ptCount val="4"/>
              <c:pt idx="0">
                <c:v>2026</c:v>
              </c:pt>
              <c:pt idx="1">
                <c:v>2028</c:v>
              </c:pt>
              <c:pt idx="2">
                <c:v>2030</c:v>
              </c:pt>
              <c:pt idx="3">
                <c:v>2031</c:v>
              </c:pt>
            </c:numLit>
          </c:cat>
          <c:val>
            <c:numLit>
              <c:formatCode>#,##0</c:formatCode>
              <c:ptCount val="4"/>
              <c:pt idx="0">
                <c:v>0</c:v>
              </c:pt>
              <c:pt idx="1">
                <c:v>605</c:v>
              </c:pt>
              <c:pt idx="2">
                <c:v>1744</c:v>
              </c:pt>
              <c:pt idx="3">
                <c:v>2790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741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Tonnes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E5966"/>
                </a:solidFill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Direct jobs</c:v>
          </c:tx>
          <c:spPr>
            <a:ln xmlns:a="http://schemas.openxmlformats.org/drawingml/2006/main" w="38100">
              <a:solidFill>
                <a:srgbClr val="0A6887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2026</c:v>
              </c:pt>
              <c:pt idx="1">
                <c:v>2027</c:v>
              </c:pt>
              <c:pt idx="2">
                <c:v>2028</c:v>
              </c:pt>
              <c:pt idx="3">
                <c:v>2029</c:v>
              </c:pt>
              <c:pt idx="4">
                <c:v>2030</c:v>
              </c:pt>
              <c:pt idx="5">
                <c:v>2031</c:v>
              </c:pt>
            </c:numLit>
          </c:cat>
          <c:val>
            <c:numLit>
              <c:formatCode>General</c:formatCode>
              <c:ptCount val="6"/>
              <c:pt idx="0">
                <c:v>12</c:v>
              </c:pt>
              <c:pt idx="1">
                <c:v>18</c:v>
              </c:pt>
              <c:pt idx="2">
                <c:v>28</c:v>
              </c:pt>
              <c:pt idx="3">
                <c:v>42</c:v>
              </c:pt>
              <c:pt idx="4">
                <c:v>58</c:v>
              </c:pt>
              <c:pt idx="5">
                <c:v>71</c:v>
              </c:pt>
            </c:numLit>
          </c:val>
        </c:ser>
        <c:ser>
          <c:idx val="1"/>
          <c:order val="1"/>
          <c:tx>
            <c:v>Women in workforce</c:v>
          </c:tx>
          <c:spPr>
            <a:ln xmlns:a="http://schemas.openxmlformats.org/drawingml/2006/main" w="28575">
              <a:solidFill>
                <a:srgbClr val="D98E2B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6"/>
              <c:pt idx="0">
                <c:v>2026</c:v>
              </c:pt>
              <c:pt idx="1">
                <c:v>2027</c:v>
              </c:pt>
              <c:pt idx="2">
                <c:v>2028</c:v>
              </c:pt>
              <c:pt idx="3">
                <c:v>2029</c:v>
              </c:pt>
              <c:pt idx="4">
                <c:v>2030</c:v>
              </c:pt>
              <c:pt idx="5">
                <c:v>2031</c:v>
              </c:pt>
            </c:numLit>
          </c:cat>
          <c:val>
            <c:numLit>
              <c:formatCode>General</c:formatCode>
              <c:ptCount val="6"/>
              <c:pt idx="0">
                <c:v>5</c:v>
              </c:pt>
              <c:pt idx="1">
                <c:v>8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E59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7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D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E5966"/>
                </a:solidFill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3E5966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Illustrative product mix</c:v>
          </c:tx>
          <c:dPt>
            <c:idx val="0"/>
            <c:spPr>
              <a:solidFill xmlns:a="http://schemas.openxmlformats.org/drawingml/2006/main">
                <a:srgbClr val="074154"/>
              </a:solidFill>
            </c:spPr>
          </c:dPt>
          <c:dPt>
            <c:idx val="1"/>
            <c:spPr>
              <a:solidFill xmlns:a="http://schemas.openxmlformats.org/drawingml/2006/main">
                <a:srgbClr val="0A6887"/>
              </a:solidFill>
            </c:spPr>
          </c:dPt>
          <c:dPt>
            <c:idx val="2"/>
            <c:spPr>
              <a:solidFill xmlns:a="http://schemas.openxmlformats.org/drawingml/2006/main">
                <a:srgbClr val="D0E7ED"/>
              </a:solidFill>
            </c:spPr>
          </c:dPt>
          <c:cat>
            <c:strLit>
              <c:ptCount val="3"/>
              <c:pt idx="0">
                <c:v>Meagre</c:v>
              </c:pt>
              <c:pt idx="1">
                <c:v>Sea bream</c:v>
              </c:pt>
              <c:pt idx="2">
                <c:v>Seabass</c:v>
              </c:pt>
            </c:strLit>
          </c:cat>
          <c:val>
            <c:numLit>
              <c:formatCode>General</c:formatCode>
              <c:ptCount val="3"/>
              <c:pt idx="0">
                <c:v>50</c:v>
              </c:pt>
              <c:pt idx="1">
                <c:v>30</c:v>
              </c:pt>
              <c:pt idx="2">
                <c:v>20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74154"/>
                  </a:solidFill>
                </a:defRPr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8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3E5966"/>
              </a:solidFill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ed038554c4236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cover-deep-panel">
            <a:extLst xmlns:a="http://schemas.openxmlformats.org/drawingml/2006/main">
              <a:ext uri="{FF2B5EF4-FFF2-40B4-BE49-F238E27FC236}">
                <a16:creationId xmlns:a16="http://schemas.microsoft.com/office/drawing/2014/main" id="{0C52BDB0-4713-424E-AE98-8161AE2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6461afea5468d"/>
          <a:stretch xmlns:a="http://schemas.openxmlformats.org/drawingml/2006/main"/>
        </p:blipFill>
        <p:spPr>
          <a:xfrm xmlns:a="http://schemas.openxmlformats.org/drawingml/2006/main">
            <a:off x="781050" y="617947"/>
            <a:ext cx="2971800" cy="421455"/>
          </a:xfrm>
          <a:prstGeom xmlns:a="http://schemas.openxmlformats.org/drawingml/2006/main" prst="rect">
            <a:avLst/>
          </a:prstGeom>
        </p:spPr>
      </p:pic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DE8EBC92-17AA-4CC1-BF89-637EC54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CLIENT PRESENTATION / 2026</a:t>
            </a:r>
          </a:p>
        </p:txBody>
      </p:sp>
      <p:sp>
        <p:nvSpPr>
          <p:cNvPr id="5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1AB44CAC-9B8B-4D1A-A136-0E77112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6191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Tomorrow’s aquaculture. Built today.</a:t>
            </a:r>
          </a:p>
        </p:txBody>
      </p:sp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8130086-C025-4287-8C81-1DE678E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A reusable presentation system for SEARULEA’s clients, partners and institutions.</a:t>
            </a:r>
          </a:p>
        </p:txBody>
      </p:sp>
      <p:sp>
        <p:nvSpPr>
          <p:cNvPr id="7" name="content-body-1">
            <a:extLst xmlns:a="http://schemas.openxmlformats.org/drawingml/2006/main">
              <a:ext uri="{FF2B5EF4-FFF2-40B4-BE49-F238E27FC236}">
                <a16:creationId xmlns:a16="http://schemas.microsoft.com/office/drawing/2014/main" id="{65534321-CC22-4884-B1D4-17671C3B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August 2026 · SEARULEA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80714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489c2757b41a2"/>
          <a:stretch xmlns:a="http://schemas.openxmlformats.org/drawingml/2006/main"/>
        </p:blipFill>
        <p:spPr>
          <a:xfrm xmlns:a="http://schemas.openxmlformats.org/drawingml/2006/main">
            <a:off x="781050" y="617947"/>
            <a:ext cx="2971800" cy="42145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0747cdad14d8e"/>
          <a:stretch xmlns:a="http://schemas.openxmlformats.org/drawingml/2006/main"/>
        </p:blipFill>
        <p:spPr>
          <a:xfrm xmlns:a="http://schemas.openxmlformats.org/drawingml/2006/main">
            <a:off x="9953839" y="0"/>
            <a:ext cx="3714323" cy="3810000"/>
          </a:xfrm>
          <a:prstGeom xmlns:a="http://schemas.openxmlformats.org/drawingml/2006/main" prst="rect">
            <a:avLst/>
          </a:prstGeom>
        </p:spPr>
      </p:pic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D9612F90-17FF-452A-BDC7-9395460A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INVESTOR / TRADE / INSTITUTIONAL</a:t>
            </a:r>
          </a:p>
        </p:txBody>
      </p:sp>
      <p:sp>
        <p:nvSpPr>
          <p:cNvPr id="4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D6BF7735-F812-459C-BB5F-68F0A28F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From our sea to your port.</a:t>
            </a:r>
          </a:p>
        </p:txBody>
      </p:sp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9FCE21F4-562C-4E2E-9F49-E391122B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Use the dark cover when the presentation needs a more formal, institutional opening.</a:t>
            </a:r>
          </a:p>
        </p:txBody>
      </p:sp>
      <p:sp>
        <p:nvSpPr>
          <p:cNvPr id="6" name="content-body-1">
            <a:extLst xmlns:a="http://schemas.openxmlformats.org/drawingml/2006/main">
              <a:ext uri="{FF2B5EF4-FFF2-40B4-BE49-F238E27FC236}">
                <a16:creationId xmlns:a16="http://schemas.microsoft.com/office/drawing/2014/main" id="{ADE8D58D-B989-41B6-9427-34C98D40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38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Month Year · Presenter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25952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E24795DF-7D06-45A3-B543-36F0AE1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TEMPLATE GUIDE / DELETE BEFORE PRESENTING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5AEBD3AC-8E9E-4F80-BED6-D1026B54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A flexible system, one visual language.</a:t>
            </a:r>
          </a:p>
        </p:txBody>
      </p:sp>
      <p:sp>
        <p:nvSpPr>
          <p:cNvPr id="3" name="guide-rule-0">
            <a:extLst xmlns:a="http://schemas.openxmlformats.org/drawingml/2006/main">
              <a:ext uri="{FF2B5EF4-FFF2-40B4-BE49-F238E27FC236}">
                <a16:creationId xmlns:a16="http://schemas.microsoft.com/office/drawing/2014/main" id="{6B95BC0F-360B-4495-BC0F-BDAED3B1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uide-num-0">
            <a:extLst xmlns:a="http://schemas.openxmlformats.org/drawingml/2006/main">
              <a:ext uri="{FF2B5EF4-FFF2-40B4-BE49-F238E27FC236}">
                <a16:creationId xmlns:a16="http://schemas.microsoft.com/office/drawing/2014/main" id="{C5A50AE1-FAB8-4A4F-9765-FDF0669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7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guide-head-0">
            <a:extLst xmlns:a="http://schemas.openxmlformats.org/drawingml/2006/main">
              <a:ext uri="{FF2B5EF4-FFF2-40B4-BE49-F238E27FC236}">
                <a16:creationId xmlns:a16="http://schemas.microsoft.com/office/drawing/2014/main" id="{C07C1544-AB1D-4C87-ABC7-D48DBAD5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Start with the closest layout</a:t>
            </a:r>
          </a:p>
        </p:txBody>
      </p:sp>
      <p:sp>
        <p:nvSpPr>
          <p:cNvPr id="6" name="guide-body-0">
            <a:extLst xmlns:a="http://schemas.openxmlformats.org/drawingml/2006/main">
              <a:ext uri="{FF2B5EF4-FFF2-40B4-BE49-F238E27FC236}">
                <a16:creationId xmlns:a16="http://schemas.microsoft.com/office/drawing/2014/main" id="{7AC88050-DBDA-4B68-8739-DFB48DCB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Duplicate an example slide or choose its named layout from the New Slide menu.</a:t>
            </a:r>
          </a:p>
        </p:txBody>
      </p:sp>
      <p:sp>
        <p:nvSpPr>
          <p:cNvPr id="7" name="guide-rule-1">
            <a:extLst xmlns:a="http://schemas.openxmlformats.org/drawingml/2006/main">
              <a:ext uri="{FF2B5EF4-FFF2-40B4-BE49-F238E27FC236}">
                <a16:creationId xmlns:a16="http://schemas.microsoft.com/office/drawing/2014/main" id="{0DFBFF02-1BA1-4492-9DAC-9B1874C4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uide-num-1">
            <a:extLst xmlns:a="http://schemas.openxmlformats.org/drawingml/2006/main">
              <a:ext uri="{FF2B5EF4-FFF2-40B4-BE49-F238E27FC236}">
                <a16:creationId xmlns:a16="http://schemas.microsoft.com/office/drawing/2014/main" id="{416AAABD-141A-4A20-AA9D-88F19F7E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7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9" name="guide-head-1">
            <a:extLst xmlns:a="http://schemas.openxmlformats.org/drawingml/2006/main">
              <a:ext uri="{FF2B5EF4-FFF2-40B4-BE49-F238E27FC236}">
                <a16:creationId xmlns:a16="http://schemas.microsoft.com/office/drawing/2014/main" id="{2DC949E7-213E-4B51-91E5-0EF63BB6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337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Replace content, not the system</a:t>
            </a:r>
          </a:p>
        </p:txBody>
      </p:sp>
      <p:sp>
        <p:nvSpPr>
          <p:cNvPr id="10" name="guide-body-1">
            <a:extLst xmlns:a="http://schemas.openxmlformats.org/drawingml/2006/main">
              <a:ext uri="{FF2B5EF4-FFF2-40B4-BE49-F238E27FC236}">
                <a16:creationId xmlns:a16="http://schemas.microsoft.com/office/drawing/2014/main" id="{9AA3F115-E078-4DCB-9AF9-CDA8A9C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3624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Keep the official logo, grid, type hierarchy and palette. Replace images, text and data in place.</a:t>
            </a:r>
          </a:p>
        </p:txBody>
      </p:sp>
      <p:sp>
        <p:nvSpPr>
          <p:cNvPr id="11" name="guide-rule-2">
            <a:extLst xmlns:a="http://schemas.openxmlformats.org/drawingml/2006/main">
              <a:ext uri="{FF2B5EF4-FFF2-40B4-BE49-F238E27FC236}">
                <a16:creationId xmlns:a16="http://schemas.microsoft.com/office/drawing/2014/main" id="{03FD9496-D96D-47C2-9205-8F6270D5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uide-num-2">
            <a:extLst xmlns:a="http://schemas.openxmlformats.org/drawingml/2006/main">
              <a:ext uri="{FF2B5EF4-FFF2-40B4-BE49-F238E27FC236}">
                <a16:creationId xmlns:a16="http://schemas.microsoft.com/office/drawing/2014/main" id="{A61E800D-7BEB-4B34-89A8-38442A98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375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3" name="guide-head-2">
            <a:extLst xmlns:a="http://schemas.openxmlformats.org/drawingml/2006/main">
              <a:ext uri="{FF2B5EF4-FFF2-40B4-BE49-F238E27FC236}">
                <a16:creationId xmlns:a16="http://schemas.microsoft.com/office/drawing/2014/main" id="{46000DB5-64E9-42AD-9A37-D594159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337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2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Keep every slide decisive</a:t>
            </a:r>
          </a:p>
        </p:txBody>
      </p:sp>
      <p:sp>
        <p:nvSpPr>
          <p:cNvPr id="14" name="guide-body-2">
            <a:extLst xmlns:a="http://schemas.openxmlformats.org/drawingml/2006/main">
              <a:ext uri="{FF2B5EF4-FFF2-40B4-BE49-F238E27FC236}">
                <a16:creationId xmlns:a16="http://schemas.microsoft.com/office/drawing/2014/main" id="{BF015DF5-1720-4C54-BBC1-50DA45E4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624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One Lora statement per slide. DM Sans carries the explanation, labels and numbers.</a:t>
            </a:r>
          </a:p>
        </p:txBody>
      </p:sp>
      <p:sp>
        <p:nvSpPr>
          <p:cNvPr id="15" name="guide-fallback">
            <a:extLst xmlns:a="http://schemas.openxmlformats.org/drawingml/2006/main">
              <a:ext uri="{FF2B5EF4-FFF2-40B4-BE49-F238E27FC236}">
                <a16:creationId xmlns:a16="http://schemas.microsoft.com/office/drawing/2014/main" id="{7DE3B69C-76F6-491C-8AC5-09F08B0E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Office-safe fallbacks: Lora → Georgia · DM Sans → Arial / Helvetica</a:t>
            </a:r>
          </a:p>
        </p:txBody>
      </p:sp>
    </p:spTree>
    <p:extLst>
      <p:ext uri="{BB962C8B-B14F-4D97-AF65-F5344CB8AC3E}">
        <p14:creationId xmlns:p14="http://schemas.microsoft.com/office/powerpoint/2010/main" val="5746052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6FCE17EB-B319-4297-939C-9504844A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PRESENTATION OVERVIEW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FE005868-B98B-47FF-BB10-4AC9890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Today’s conversation</a:t>
            </a:r>
          </a:p>
        </p:txBody>
      </p:sp>
      <p:sp>
        <p:nvSpPr>
          <p:cNvPr id="3" name="agenda-rule-0">
            <a:extLst xmlns:a="http://schemas.openxmlformats.org/drawingml/2006/main">
              <a:ext uri="{FF2B5EF4-FFF2-40B4-BE49-F238E27FC236}">
                <a16:creationId xmlns:a16="http://schemas.microsoft.com/office/drawing/2014/main" id="{33E79CD0-B363-4CED-B594-76F64184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1223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genda-no-0">
            <a:extLst xmlns:a="http://schemas.openxmlformats.org/drawingml/2006/main">
              <a:ext uri="{FF2B5EF4-FFF2-40B4-BE49-F238E27FC236}">
                <a16:creationId xmlns:a16="http://schemas.microsoft.com/office/drawing/2014/main" id="{317C93FB-DD51-4287-8627-50A8472D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agenda-name-0">
            <a:extLst xmlns:a="http://schemas.openxmlformats.org/drawingml/2006/main">
              <a:ext uri="{FF2B5EF4-FFF2-40B4-BE49-F238E27FC236}">
                <a16:creationId xmlns:a16="http://schemas.microsoft.com/office/drawing/2014/main" id="{7FE23E78-8042-446F-B3B6-4252C5B0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Context</a:t>
            </a:r>
          </a:p>
        </p:txBody>
      </p:sp>
      <p:sp>
        <p:nvSpPr>
          <p:cNvPr id="6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EBA8E234-A21E-48AC-B95D-43F69081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Why the opportunity matters now</a:t>
            </a:r>
          </a:p>
        </p:txBody>
      </p:sp>
      <p:sp>
        <p:nvSpPr>
          <p:cNvPr id="7" name="agenda-rule-1">
            <a:extLst xmlns:a="http://schemas.openxmlformats.org/drawingml/2006/main">
              <a:ext uri="{FF2B5EF4-FFF2-40B4-BE49-F238E27FC236}">
                <a16:creationId xmlns:a16="http://schemas.microsoft.com/office/drawing/2014/main" id="{084A5F29-C2E8-498C-BA75-0A5CC1DC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genda-no-1">
            <a:extLst xmlns:a="http://schemas.openxmlformats.org/drawingml/2006/main">
              <a:ext uri="{FF2B5EF4-FFF2-40B4-BE49-F238E27FC236}">
                <a16:creationId xmlns:a16="http://schemas.microsoft.com/office/drawing/2014/main" id="{D4E48796-A408-4851-BC93-D863A618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9" name="agenda-name-1">
            <a:extLst xmlns:a="http://schemas.openxmlformats.org/drawingml/2006/main">
              <a:ext uri="{FF2B5EF4-FFF2-40B4-BE49-F238E27FC236}">
                <a16:creationId xmlns:a16="http://schemas.microsoft.com/office/drawing/2014/main" id="{BA1BAA4A-C25E-4D81-B9CC-F091F707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Approach</a:t>
            </a:r>
          </a:p>
        </p:txBody>
      </p:sp>
      <p:sp>
        <p:nvSpPr>
          <p:cNvPr id="10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1912E06A-F631-4E55-A871-C20AADDA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385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How the integrated model works</a:t>
            </a:r>
          </a:p>
        </p:txBody>
      </p:sp>
      <p:sp>
        <p:nvSpPr>
          <p:cNvPr id="11" name="agenda-rule-2">
            <a:extLst xmlns:a="http://schemas.openxmlformats.org/drawingml/2006/main">
              <a:ext uri="{FF2B5EF4-FFF2-40B4-BE49-F238E27FC236}">
                <a16:creationId xmlns:a16="http://schemas.microsoft.com/office/drawing/2014/main" id="{01E38A77-2F6A-4AB2-8A6F-8C219FBA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93DE387C-231F-4E20-81A9-37E19EEB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3" name="agenda-name-2">
            <a:extLst xmlns:a="http://schemas.openxmlformats.org/drawingml/2006/main">
              <a:ext uri="{FF2B5EF4-FFF2-40B4-BE49-F238E27FC236}">
                <a16:creationId xmlns:a16="http://schemas.microsoft.com/office/drawing/2014/main" id="{48C04A75-47F0-4C13-8CAA-121F177D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Evidence</a:t>
            </a:r>
          </a:p>
        </p:txBody>
      </p:sp>
      <p:sp>
        <p:nvSpPr>
          <p:cNvPr id="14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91E3CA76-105F-42E2-B1F1-678F326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Milestones, capacity and operating proof</a:t>
            </a:r>
          </a:p>
        </p:txBody>
      </p:sp>
      <p:sp>
        <p:nvSpPr>
          <p:cNvPr id="15" name="agenda-rule-3">
            <a:extLst xmlns:a="http://schemas.openxmlformats.org/drawingml/2006/main">
              <a:ext uri="{FF2B5EF4-FFF2-40B4-BE49-F238E27FC236}">
                <a16:creationId xmlns:a16="http://schemas.microsoft.com/office/drawing/2014/main" id="{D028A024-2DC4-4B29-A57C-38B2BB4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12230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genda-no-3">
            <a:extLst xmlns:a="http://schemas.openxmlformats.org/drawingml/2006/main">
              <a:ext uri="{FF2B5EF4-FFF2-40B4-BE49-F238E27FC236}">
                <a16:creationId xmlns:a16="http://schemas.microsoft.com/office/drawing/2014/main" id="{FA3EEC52-F05A-4018-9072-86AAF753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04</a:t>
            </a:r>
          </a:p>
        </p:txBody>
      </p:sp>
      <p:sp>
        <p:nvSpPr>
          <p:cNvPr id="17" name="agenda-name-3">
            <a:extLst xmlns:a="http://schemas.openxmlformats.org/drawingml/2006/main">
              <a:ext uri="{FF2B5EF4-FFF2-40B4-BE49-F238E27FC236}">
                <a16:creationId xmlns:a16="http://schemas.microsoft.com/office/drawing/2014/main" id="{D2BD1B17-688A-4824-A237-87805C3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Decision</a:t>
            </a:r>
          </a:p>
        </p:txBody>
      </p:sp>
      <p:sp>
        <p:nvSpPr>
          <p:cNvPr id="18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14D34881-A306-422C-9554-5A9C771F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721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The partnership or action required</a:t>
            </a:r>
          </a:p>
        </p:txBody>
      </p:sp>
    </p:spTree>
    <p:extLst>
      <p:ext uri="{BB962C8B-B14F-4D97-AF65-F5344CB8AC3E}">
        <p14:creationId xmlns:p14="http://schemas.microsoft.com/office/powerpoint/2010/main" val="16228172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38d334b6432d"/>
          <a:stretch xmlns:a="http://schemas.openxmlformats.org/drawingml/2006/main"/>
        </p:blipFill>
        <p:spPr>
          <a:xfrm xmlns:a="http://schemas.openxmlformats.org/drawingml/2006/main">
            <a:off x="742950" y="662345"/>
            <a:ext cx="514350" cy="370761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bc535278a4a03"/>
          <a:stretch xmlns:a="http://schemas.openxmlformats.org/drawingml/2006/main"/>
        </p:blipFill>
        <p:spPr>
          <a:xfrm xmlns:a="http://schemas.openxmlformats.org/drawingml/2006/main">
            <a:off x="9715500" y="-666750"/>
            <a:ext cx="5143500" cy="5143500"/>
          </a:xfrm>
          <a:prstGeom xmlns:a="http://schemas.openxmlformats.org/drawingml/2006/main" prst="rect">
            <a:avLst/>
          </a:prstGeom>
        </p:spPr>
      </p:pic>
      <p:sp>
        <p:nvSpPr>
          <p:cNvPr id="3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456C76D-12CD-4253-9A7C-359DA34B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SECTION 01 / CONTEXT</a:t>
            </a:r>
          </a:p>
        </p:txBody>
      </p:sp>
      <p:sp>
        <p:nvSpPr>
          <p:cNvPr id="4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B79228C5-2368-4BA9-B7AE-E0B4B87F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Why now</a:t>
            </a:r>
          </a:p>
        </p:txBody>
      </p:sp>
      <p:sp>
        <p:nvSpPr>
          <p:cNvPr id="5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DF87269-E9C1-428F-8B82-08F662A7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The market context that makes this chapter necessary.</a:t>
            </a:r>
          </a:p>
        </p:txBody>
      </p:sp>
    </p:spTree>
    <p:extLst>
      <p:ext uri="{BB962C8B-B14F-4D97-AF65-F5344CB8AC3E}">
        <p14:creationId xmlns:p14="http://schemas.microsoft.com/office/powerpoint/2010/main" val="1858849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6d067ee8f49f2"/>
          <a:stretch xmlns:a="http://schemas.openxmlformats.org/drawingml/2006/main"/>
        </p:blipFill>
        <p:spPr>
          <a:xfrm xmlns:a="http://schemas.openxmlformats.org/drawingml/2006/main">
            <a:off x="12544425" y="487124"/>
            <a:ext cx="419100" cy="302101"/>
          </a:xfrm>
          <a:prstGeom xmlns:a="http://schemas.openxmlformats.org/drawingml/2006/main" prst="rect">
            <a:avLst/>
          </a:prstGeom>
        </p:spPr>
      </p:pic>
      <p:sp>
        <p:nvSpPr>
          <p:cNvPr id="2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19B1936-56EF-4202-9703-907704F8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VISION / POSITIONING</a:t>
            </a:r>
          </a:p>
        </p:txBody>
      </p:sp>
      <p:sp>
        <p:nvSpPr>
          <p:cNvPr id="3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7CDEAC54-5631-4306-80AA-09E3B250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Ras El Ma can become the reference point for Mediterranean aquaculture.</a:t>
            </a:r>
          </a:p>
        </p:txBody>
      </p:sp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FE19AA1C-71D5-46A9-BFEE-3A52353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An integrated, traceable and biosafe model turns natural advantage into durable production capacity.</a:t>
            </a:r>
          </a:p>
        </p:txBody>
      </p:sp>
    </p:spTree>
    <p:extLst>
      <p:ext uri="{BB962C8B-B14F-4D97-AF65-F5344CB8AC3E}">
        <p14:creationId xmlns:p14="http://schemas.microsoft.com/office/powerpoint/2010/main" val="20791431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82F267D7-2215-41D1-BE09-5BB9B693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COMPANY / OVERVIEW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7C5357A1-9AAA-4364-B9A8-BB79046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SEARULEA builds the infrastructure behind Moroccan aquaculture.</a:t>
            </a:r>
          </a:p>
        </p:txBody>
      </p:sp>
      <p:sp>
        <p:nvSpPr>
          <p:cNvPr id="3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3E45BE6-C41E-4E0E-8F4C-BED866B0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81075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SEARULEA operates an integrated value chain at Ras El Ma, Oriental Region.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1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Offshore farming, fresh conditioning at port, refrigerated export and traceability are designed to operate as one system—not as separate businesses.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1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21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The result is a platform built for international standards from day one, with local capability and documentation at every stage.</a:t>
            </a:r>
          </a:p>
        </p:txBody>
      </p:sp>
      <p:sp>
        <p:nvSpPr>
          <p:cNvPr id="4" name="single-proof">
            <a:extLst xmlns:a="http://schemas.openxmlformats.org/drawingml/2006/main">
              <a:ext uri="{FF2B5EF4-FFF2-40B4-BE49-F238E27FC236}">
                <a16:creationId xmlns:a16="http://schemas.microsoft.com/office/drawing/2014/main" id="{51D49333-F3A3-44F5-8FA3-7317E267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484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3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375 ha offshore concession · 2,790 t target capacity · 3 species</a:t>
            </a:r>
          </a:p>
        </p:txBody>
      </p:sp>
    </p:spTree>
    <p:extLst>
      <p:ext uri="{BB962C8B-B14F-4D97-AF65-F5344CB8AC3E}">
        <p14:creationId xmlns:p14="http://schemas.microsoft.com/office/powerpoint/2010/main" val="3052690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2AAA9BC4-6EE4-48B0-90B4-CAD33C00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STRATEGY / OPERATING MODEL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309DAF1-D2F9-4E2A-8441-4A04607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Integration creates control at every handoff.</a:t>
            </a:r>
          </a:p>
        </p:txBody>
      </p:sp>
      <p:sp>
        <p:nvSpPr>
          <p:cNvPr id="3" name="two-column-divider">
            <a:extLst xmlns:a="http://schemas.openxmlformats.org/drawingml/2006/main">
              <a:ext uri="{FF2B5EF4-FFF2-40B4-BE49-F238E27FC236}">
                <a16:creationId xmlns:a16="http://schemas.microsoft.com/office/drawing/2014/main" id="{47192AD6-55CE-41C9-A221-354D81C4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14550"/>
            <a:ext cx="190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F2EB593-2F22-4E8D-839B-26C030A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619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0B3242"/>
                </a:solidFill>
              </a:rPr>
              <a:t>One chain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Offshore production at Ras El Ma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Fresh conditioning at port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Cold chain and lot-level traceability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Export documentation through one operator</a:t>
            </a:r>
          </a:p>
        </p:txBody>
      </p:sp>
      <p:sp>
        <p:nvSpPr>
          <p:cNvPr id="5" name="content-body-1">
            <a:extLst xmlns:a="http://schemas.openxmlformats.org/drawingml/2006/main">
              <a:ext uri="{FF2B5EF4-FFF2-40B4-BE49-F238E27FC236}">
                <a16:creationId xmlns:a16="http://schemas.microsoft.com/office/drawing/2014/main" id="{2BEA0FEF-AEE9-4C8E-9BE6-CA4E5B0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76450"/>
            <a:ext cx="5619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0B3242"/>
                </a:solidFill>
              </a:rPr>
              <a:t>One standard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ONSSA requirements built into operations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European market documentation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Biosafety designed into the CAPEX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Clear ownership from cage to client</a:t>
            </a:r>
          </a:p>
        </p:txBody>
      </p:sp>
    </p:spTree>
    <p:extLst>
      <p:ext uri="{BB962C8B-B14F-4D97-AF65-F5344CB8AC3E}">
        <p14:creationId xmlns:p14="http://schemas.microsoft.com/office/powerpoint/2010/main" val="4009141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C5E73F6E-6636-4DB7-A140-8A632BC2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OPERATIONS / OFFSHORE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F15A37FC-30E5-4678-B372-C39BE1FD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Evidence starts where the work happens.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402f694fb4e63"/>
          <a:srcRect xmlns:a="http://schemas.openxmlformats.org/drawingml/2006/main" l="10747" t="0" r="107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57400"/>
            <a:ext cx="5905500" cy="4305300"/>
          </a:xfrm>
          <a:prstGeom xmlns:a="http://schemas.openxmlformats.org/drawingml/2006/main" prst="rect">
            <a:avLst/>
          </a:prstGeom>
        </p:spPr>
      </p:pic>
      <p:sp>
        <p:nvSpPr>
          <p:cNvPr id="4" name="image-left-accent">
            <a:extLst xmlns:a="http://schemas.openxmlformats.org/drawingml/2006/main">
              <a:ext uri="{FF2B5EF4-FFF2-40B4-BE49-F238E27FC236}">
                <a16:creationId xmlns:a16="http://schemas.microsoft.com/office/drawing/2014/main" id="{C4DC9962-8CBA-4227-8A28-F171B556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70B01621-3E77-4AC6-A47C-D83167E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53816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0B3242"/>
                </a:solidFill>
              </a:rPr>
              <a:t>Production at Ras El Ma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375-hectare government concession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Sea bream, seabass and meagre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Continuous monitoring and documented lots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Built to scale in defined phases</a:t>
            </a:r>
          </a:p>
        </p:txBody>
      </p:sp>
    </p:spTree>
    <p:extLst>
      <p:ext uri="{BB962C8B-B14F-4D97-AF65-F5344CB8AC3E}">
        <p14:creationId xmlns:p14="http://schemas.microsoft.com/office/powerpoint/2010/main" val="1084843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EF6E1AF1-549F-4DC5-931C-F4F4799D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QUALITY / COLD CHAIN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71D7E5FF-702F-42E2-BF53-7CF502F2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Control continues after the harvest.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6bdfee049433a"/>
          <a:srcRect xmlns:a="http://schemas.openxmlformats.org/drawingml/2006/main" l="8088" t="0" r="80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2057400"/>
            <a:ext cx="6305550" cy="4305300"/>
          </a:xfrm>
          <a:prstGeom xmlns:a="http://schemas.openxmlformats.org/drawingml/2006/main" prst="rect">
            <a:avLst/>
          </a:prstGeom>
        </p:spPr>
      </p:pic>
      <p:sp>
        <p:nvSpPr>
          <p:cNvPr id="4" name="image-right-accent">
            <a:extLst xmlns:a="http://schemas.openxmlformats.org/drawingml/2006/main">
              <a:ext uri="{FF2B5EF4-FFF2-40B4-BE49-F238E27FC236}">
                <a16:creationId xmlns:a16="http://schemas.microsoft.com/office/drawing/2014/main" id="{FE79CB56-720D-4F2F-8E9A-9907B5C7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E4B8BD7-6168-4C5B-B9ED-A191B451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0B3242"/>
                </a:solidFill>
              </a:rPr>
              <a:t>Fresh, documented, ready to move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Fresh conditioning at port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Refrigerated logistics and export documentation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One point of contact for commercial partners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Traceability carried through the chain</a:t>
            </a:r>
          </a:p>
        </p:txBody>
      </p:sp>
    </p:spTree>
    <p:extLst>
      <p:ext uri="{BB962C8B-B14F-4D97-AF65-F5344CB8AC3E}">
        <p14:creationId xmlns:p14="http://schemas.microsoft.com/office/powerpoint/2010/main" val="20656442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c319dd4dd43c0"/>
          <a:srcRect xmlns:a="http://schemas.openxmlformats.org/drawingml/2006/main" l="0" t="859" r="0" b="8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3716000" cy="7715250"/>
          </a:xfrm>
          <a:prstGeom xmlns:a="http://schemas.openxmlformats.org/drawingml/2006/main" prst="rect">
            <a:avLst/>
          </a:prstGeom>
        </p:spPr>
      </p:pic>
      <p:sp>
        <p:nvSpPr>
          <p:cNvPr id="2" name="photo-quote-panel">
            <a:extLst xmlns:a="http://schemas.openxmlformats.org/drawingml/2006/main">
              <a:ext uri="{FF2B5EF4-FFF2-40B4-BE49-F238E27FC236}">
                <a16:creationId xmlns:a16="http://schemas.microsoft.com/office/drawing/2014/main" id="{50AC6005-08BA-4114-828A-CCD073D8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38950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4d5f8472d4196"/>
          <a:stretch xmlns:a="http://schemas.openxmlformats.org/drawingml/2006/main"/>
        </p:blipFill>
        <p:spPr>
          <a:xfrm xmlns:a="http://schemas.openxmlformats.org/drawingml/2006/main">
            <a:off x="781050" y="610985"/>
            <a:ext cx="2667000" cy="378229"/>
          </a:xfrm>
          <a:prstGeom xmlns:a="http://schemas.openxmlformats.org/drawingml/2006/main" prst="rect">
            <a:avLst/>
          </a:prstGeom>
        </p:spPr>
      </p:pic>
      <p:sp>
        <p:nvSpPr>
          <p:cNvPr id="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EB7F796D-AAC5-45A4-8C46-416AA21F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PROOF / PARTNERSHIP</a:t>
            </a:r>
          </a:p>
        </p:txBody>
      </p:sp>
      <p:sp>
        <p:nvSpPr>
          <p:cNvPr id="5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AA8C1A53-8D9F-4E5B-A943-47BD730B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5334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“One operator. One documented chain. One standard.”</a:t>
            </a:r>
          </a:p>
        </p:txBody>
      </p:sp>
      <p:sp>
        <p:nvSpPr>
          <p:cNvPr id="6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DCD3CE2D-2460-477A-8C0E-C2D585B0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91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Client or partner name · Role · Organisation</a:t>
            </a:r>
          </a:p>
        </p:txBody>
      </p:sp>
    </p:spTree>
    <p:extLst>
      <p:ext uri="{BB962C8B-B14F-4D97-AF65-F5344CB8AC3E}">
        <p14:creationId xmlns:p14="http://schemas.microsoft.com/office/powerpoint/2010/main" val="690390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34FEFDBE-F102-4096-B370-656A1AAD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PROOF / KEY FIGURES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F70C6263-AEC8-48CC-9AEA-F35AF2C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The scale is visible in four numbers.</a:t>
            </a:r>
          </a:p>
        </p:txBody>
      </p:sp>
      <p:sp>
        <p:nvSpPr>
          <p:cNvPr id="3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A7037626-9D80-4098-B205-0ACFA3D8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375</a:t>
            </a:r>
          </a:p>
        </p:txBody>
      </p:sp>
      <p:sp>
        <p:nvSpPr>
          <p:cNvPr id="4" name="metric-unit-0">
            <a:extLst xmlns:a="http://schemas.openxmlformats.org/drawingml/2006/main">
              <a:ext uri="{FF2B5EF4-FFF2-40B4-BE49-F238E27FC236}">
                <a16:creationId xmlns:a16="http://schemas.microsoft.com/office/drawing/2014/main" id="{889D6650-C3D9-4347-938B-742F7B9F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HECTARES</a:t>
            </a:r>
          </a:p>
        </p:txBody>
      </p:sp>
      <p:sp>
        <p:nvSpPr>
          <p:cNvPr id="5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DA1ED16D-0ECE-47B0-B42F-720B34F4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Offshore government concession</a:t>
            </a:r>
          </a:p>
        </p:txBody>
      </p:sp>
      <p:sp>
        <p:nvSpPr>
          <p:cNvPr id="6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D69F61CF-7FA5-4F27-82AD-21DDC24E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B53C7466-78B7-40E5-81E1-56E88ADC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2,790</a:t>
            </a:r>
          </a:p>
        </p:txBody>
      </p:sp>
      <p:sp>
        <p:nvSpPr>
          <p:cNvPr id="8" name="metric-unit-1">
            <a:extLst xmlns:a="http://schemas.openxmlformats.org/drawingml/2006/main">
              <a:ext uri="{FF2B5EF4-FFF2-40B4-BE49-F238E27FC236}">
                <a16:creationId xmlns:a16="http://schemas.microsoft.com/office/drawing/2014/main" id="{13380FC8-7070-4E58-8A86-BF845F0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TONNES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17E0E1D9-64B6-4A84-91BA-1B99C3A6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00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Target annual capacity by 2031</a:t>
            </a:r>
          </a:p>
        </p:txBody>
      </p:sp>
      <p:sp>
        <p:nvSpPr>
          <p:cNvPr id="10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D1DDBAAC-AA19-4ED5-BA35-C1633A5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021646A0-3EC3-47C2-A601-F3EC905F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00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40%</a:t>
            </a:r>
          </a:p>
        </p:txBody>
      </p:sp>
      <p:sp>
        <p:nvSpPr>
          <p:cNvPr id="12" name="metric-unit-2">
            <a:extLst xmlns:a="http://schemas.openxmlformats.org/drawingml/2006/main">
              <a:ext uri="{FF2B5EF4-FFF2-40B4-BE49-F238E27FC236}">
                <a16:creationId xmlns:a16="http://schemas.microsoft.com/office/drawing/2014/main" id="{D4FAE120-222B-41A9-B2CE-70035AA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67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WOMEN</a:t>
            </a:r>
          </a:p>
        </p:txBody>
      </p:sp>
      <p:sp>
        <p:nvSpPr>
          <p:cNvPr id="13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E7E49AD7-51B2-465A-BEC8-F2B44C42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00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Workforce commitment</a:t>
            </a:r>
          </a:p>
        </p:txBody>
      </p:sp>
      <p:sp>
        <p:nvSpPr>
          <p:cNvPr id="14" name="metric-divider-3">
            <a:extLst xmlns:a="http://schemas.openxmlformats.org/drawingml/2006/main">
              <a:ext uri="{FF2B5EF4-FFF2-40B4-BE49-F238E27FC236}">
                <a16:creationId xmlns:a16="http://schemas.microsoft.com/office/drawing/2014/main" id="{9B180FB4-DF00-4149-B71A-FFECA4F4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57450"/>
            <a:ext cx="95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4381C91F-7849-4DB7-811A-98D4FC0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003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5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55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3</a:t>
            </a:r>
          </a:p>
        </p:txBody>
      </p:sp>
      <p:sp>
        <p:nvSpPr>
          <p:cNvPr id="16" name="metric-unit-3">
            <a:extLst xmlns:a="http://schemas.openxmlformats.org/drawingml/2006/main">
              <a:ext uri="{FF2B5EF4-FFF2-40B4-BE49-F238E27FC236}">
                <a16:creationId xmlns:a16="http://schemas.microsoft.com/office/drawing/2014/main" id="{4E7FF2D4-1347-4142-943E-E299A5D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671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SPECIES</a:t>
            </a:r>
          </a:p>
        </p:txBody>
      </p:sp>
      <p:sp>
        <p:nvSpPr>
          <p:cNvPr id="17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63578141-7FCD-4169-9E76-6F3FD8D6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Sea bream, seabass and meagre</a:t>
            </a:r>
          </a:p>
        </p:txBody>
      </p:sp>
      <p:sp>
        <p:nvSpPr>
          <p:cNvPr id="18" name="metrics-bottom-rule">
            <a:extLst xmlns:a="http://schemas.openxmlformats.org/drawingml/2006/main">
              <a:ext uri="{FF2B5EF4-FFF2-40B4-BE49-F238E27FC236}">
                <a16:creationId xmlns:a16="http://schemas.microsoft.com/office/drawing/2014/main" id="{954411A3-48A4-46FE-8273-966C1C5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2230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s-bottom">
            <a:extLst xmlns:a="http://schemas.openxmlformats.org/drawingml/2006/main">
              <a:ext uri="{FF2B5EF4-FFF2-40B4-BE49-F238E27FC236}">
                <a16:creationId xmlns:a16="http://schemas.microsoft.com/office/drawing/2014/main" id="{278DF93D-85AF-4DC9-B39D-4EB4866F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Use verified numbers and write the meaning directly below each one.</a:t>
            </a:r>
          </a:p>
        </p:txBody>
      </p:sp>
    </p:spTree>
    <p:extLst>
      <p:ext uri="{BB962C8B-B14F-4D97-AF65-F5344CB8AC3E}">
        <p14:creationId xmlns:p14="http://schemas.microsoft.com/office/powerpoint/2010/main" val="15473710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D219C52F-C863-4A31-B8AC-607B4598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OPERATING MODEL / PROCESS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399B2295-97C0-4885-985E-6572C0D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One chain, four controlled handoffs.</a:t>
            </a:r>
          </a:p>
        </p:txBody>
      </p:sp>
      <p:sp>
        <p:nvSpPr>
          <p:cNvPr id="3" name="process-connector">
            <a:extLst xmlns:a="http://schemas.openxmlformats.org/drawingml/2006/main">
              <a:ext uri="{FF2B5EF4-FFF2-40B4-BE49-F238E27FC236}">
                <a16:creationId xmlns:a16="http://schemas.microsoft.com/office/drawing/2014/main" id="{4ABA80A7-1FEC-4E04-975C-B5C96FAA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942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cess-node-0">
            <a:extLst xmlns:a="http://schemas.openxmlformats.org/drawingml/2006/main">
              <a:ext uri="{FF2B5EF4-FFF2-40B4-BE49-F238E27FC236}">
                <a16:creationId xmlns:a16="http://schemas.microsoft.com/office/drawing/2014/main" id="{83EB3EEF-C3BB-4615-AA7E-8BAF7241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09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19050">
            <a:solidFill>
              <a:srgbClr val="B9CDD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074154"/>
                </a:solidFill>
                <a:latin typeface="Lora"/>
                <a:ea typeface="Lora"/>
                <a:cs typeface="Lora"/>
              </a:rPr>
              <a:t>01</a:t>
            </a:r>
          </a:p>
        </p:txBody>
      </p:sp>
      <p:sp>
        <p:nvSpPr>
          <p:cNvPr id="5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79B5312A-5A16-4A04-BBE4-6DA0EE11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Offshore farming</a:t>
            </a:r>
          </a:p>
        </p:txBody>
      </p:sp>
      <p:sp>
        <p:nvSpPr>
          <p:cNvPr id="6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C4E42BDC-98E6-4DDD-9CBC-6B3E383E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625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Monitored production at Ras El Ma</a:t>
            </a:r>
          </a:p>
        </p:txBody>
      </p:sp>
      <p:sp>
        <p:nvSpPr>
          <p:cNvPr id="7" name="process-node-1">
            <a:extLst xmlns:a="http://schemas.openxmlformats.org/drawingml/2006/main">
              <a:ext uri="{FF2B5EF4-FFF2-40B4-BE49-F238E27FC236}">
                <a16:creationId xmlns:a16="http://schemas.microsoft.com/office/drawing/2014/main" id="{BC582784-BF40-4051-8262-867CA76A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09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19050">
            <a:solidFill>
              <a:srgbClr val="B9CDD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074154"/>
                </a:solidFill>
                <a:latin typeface="Lora"/>
                <a:ea typeface="Lora"/>
                <a:cs typeface="Lora"/>
              </a:rPr>
              <a:t>02</a:t>
            </a:r>
          </a:p>
        </p:txBody>
      </p:sp>
      <p:sp>
        <p:nvSpPr>
          <p:cNvPr id="8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38202E7F-FF2A-41BB-985A-D63762D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Fresh at port</a:t>
            </a:r>
          </a:p>
        </p:txBody>
      </p:sp>
      <p:sp>
        <p:nvSpPr>
          <p:cNvPr id="9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54A84079-319A-4AFF-BC85-DF163091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625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Conditioning, quality and documentation</a:t>
            </a:r>
          </a:p>
        </p:txBody>
      </p:sp>
      <p:sp>
        <p:nvSpPr>
          <p:cNvPr id="10" name="process-node-2">
            <a:extLst xmlns:a="http://schemas.openxmlformats.org/drawingml/2006/main">
              <a:ext uri="{FF2B5EF4-FFF2-40B4-BE49-F238E27FC236}">
                <a16:creationId xmlns:a16="http://schemas.microsoft.com/office/drawing/2014/main" id="{411A61B4-EAFD-4856-8961-5A6CF789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09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19050">
            <a:solidFill>
              <a:srgbClr val="B9CDD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074154"/>
                </a:solidFill>
                <a:latin typeface="Lora"/>
                <a:ea typeface="Lora"/>
                <a:cs typeface="Lora"/>
              </a:rPr>
              <a:t>03</a:t>
            </a:r>
          </a:p>
        </p:txBody>
      </p:sp>
      <p:sp>
        <p:nvSpPr>
          <p:cNvPr id="11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5D9B1676-3985-4FF1-B458-A3D3E8A4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Cold chain</a:t>
            </a:r>
          </a:p>
        </p:txBody>
      </p:sp>
      <p:sp>
        <p:nvSpPr>
          <p:cNvPr id="12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CCC517A4-DB3F-4769-9372-764B70DA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Refrigerated handling with traceability</a:t>
            </a:r>
          </a:p>
        </p:txBody>
      </p:sp>
      <p:sp>
        <p:nvSpPr>
          <p:cNvPr id="13" name="process-node-3">
            <a:extLst xmlns:a="http://schemas.openxmlformats.org/drawingml/2006/main">
              <a:ext uri="{FF2B5EF4-FFF2-40B4-BE49-F238E27FC236}">
                <a16:creationId xmlns:a16="http://schemas.microsoft.com/office/drawing/2014/main" id="{A09B1B44-1673-411F-8893-A8A06809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098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19050">
            <a:solidFill>
              <a:srgbClr val="0A688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2325" b="1">
                <a:solidFill>
                  <a:srgbClr val="FFFFFF"/>
                </a:solidFill>
                <a:latin typeface="Lora"/>
                <a:ea typeface="Lora"/>
                <a:cs typeface="Lora"/>
              </a:rPr>
              <a:t>04</a:t>
            </a:r>
          </a:p>
        </p:txBody>
      </p:sp>
      <p:sp>
        <p:nvSpPr>
          <p:cNvPr id="14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C36408A3-39EA-45F5-8B57-DB3726C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1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Export</a:t>
            </a:r>
          </a:p>
        </p:txBody>
      </p:sp>
      <p:sp>
        <p:nvSpPr>
          <p:cNvPr id="15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DF8619B6-BAAD-4BC1-A68F-49D4246E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762500"/>
            <a:ext cx="25146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42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One commercial handoff to the client</a:t>
            </a:r>
          </a:p>
        </p:txBody>
      </p:sp>
      <p:sp>
        <p:nvSpPr>
          <p:cNvPr id="16" name="process-outcome">
            <a:extLst xmlns:a="http://schemas.openxmlformats.org/drawingml/2006/main">
              <a:ext uri="{FF2B5EF4-FFF2-40B4-BE49-F238E27FC236}">
                <a16:creationId xmlns:a16="http://schemas.microsoft.com/office/drawing/2014/main" id="{1C319195-7585-405F-9909-E0DC9F7D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2293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0A6887"/>
                </a:solidFill>
                <a:latin typeface="Lora"/>
                <a:ea typeface="Lora"/>
                <a:cs typeface="Lora"/>
              </a:defRPr>
            </a:pPr>
            <a:r>
              <a:rPr sz="2100" b="1" i="0">
                <a:solidFill>
                  <a:srgbClr val="0A6887"/>
                </a:solidFill>
                <a:latin typeface="Lora"/>
                <a:ea typeface="Lora"/>
                <a:cs typeface="Lora"/>
              </a:rPr>
              <a:t>Our chain. Our commitments. Your certainty.</a:t>
            </a:r>
          </a:p>
        </p:txBody>
      </p:sp>
    </p:spTree>
    <p:extLst>
      <p:ext uri="{BB962C8B-B14F-4D97-AF65-F5344CB8AC3E}">
        <p14:creationId xmlns:p14="http://schemas.microsoft.com/office/powerpoint/2010/main" val="11713068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2A2C72A0-C22B-4560-B07E-01080CEC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ROADMAP / MILESTONES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48580BEF-5DF9-4306-A4FF-54015125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Capacity grows in documented phases.</a:t>
            </a:r>
          </a:p>
        </p:txBody>
      </p:sp>
      <p:sp>
        <p:nvSpPr>
          <p:cNvPr id="3" name="timeline-base">
            <a:extLst xmlns:a="http://schemas.openxmlformats.org/drawingml/2006/main">
              <a:ext uri="{FF2B5EF4-FFF2-40B4-BE49-F238E27FC236}">
                <a16:creationId xmlns:a16="http://schemas.microsoft.com/office/drawing/2014/main" id="{19512544-4FAD-4664-8C8B-E1127A7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1450"/>
            <a:ext cx="10896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tick-0">
            <a:extLst xmlns:a="http://schemas.openxmlformats.org/drawingml/2006/main">
              <a:ext uri="{FF2B5EF4-FFF2-40B4-BE49-F238E27FC236}">
                <a16:creationId xmlns:a16="http://schemas.microsoft.com/office/drawing/2014/main" id="{87D3916F-98C1-474C-9DD9-B3132845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98716D1C-92F9-44CB-9601-1C9A163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74154"/>
            </a:solidFill>
            <a:prstDash val="solid"/>
          </a:ln>
        </p:spPr>
      </p:sp>
      <p:sp>
        <p:nvSpPr>
          <p:cNvPr id="6" name="timeline-year-0">
            <a:extLst xmlns:a="http://schemas.openxmlformats.org/drawingml/2006/main">
              <a:ext uri="{FF2B5EF4-FFF2-40B4-BE49-F238E27FC236}">
                <a16:creationId xmlns:a16="http://schemas.microsoft.com/office/drawing/2014/main" id="{8678212C-638B-41F8-9E35-81D22FB1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7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2026</a:t>
            </a:r>
          </a:p>
        </p:txBody>
      </p:sp>
      <p:sp>
        <p:nvSpPr>
          <p:cNvPr id="7" name="timeline-title-0">
            <a:extLst xmlns:a="http://schemas.openxmlformats.org/drawingml/2006/main">
              <a:ext uri="{FF2B5EF4-FFF2-40B4-BE49-F238E27FC236}">
                <a16:creationId xmlns:a16="http://schemas.microsoft.com/office/drawing/2014/main" id="{B6C7193A-BCBD-4E20-B7FA-936F940E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Build</a:t>
            </a:r>
          </a:p>
        </p:txBody>
      </p:sp>
      <p:sp>
        <p:nvSpPr>
          <p:cNvPr id="8" name="timeline-body-0">
            <a:extLst xmlns:a="http://schemas.openxmlformats.org/drawingml/2006/main">
              <a:ext uri="{FF2B5EF4-FFF2-40B4-BE49-F238E27FC236}">
                <a16:creationId xmlns:a16="http://schemas.microsoft.com/office/drawing/2014/main" id="{99577D23-9966-4A54-89BD-14F41A75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Infrastructure and certification</a:t>
            </a:r>
          </a:p>
        </p:txBody>
      </p:sp>
      <p:sp>
        <p:nvSpPr>
          <p:cNvPr id="9" name="timeline-tick-1">
            <a:extLst xmlns:a="http://schemas.openxmlformats.org/drawingml/2006/main">
              <a:ext uri="{FF2B5EF4-FFF2-40B4-BE49-F238E27FC236}">
                <a16:creationId xmlns:a16="http://schemas.microsoft.com/office/drawing/2014/main" id="{518A6309-C1D6-436A-964A-C55C312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6259ADBA-4B2D-47F9-8CCA-0BE2F6D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74154"/>
            </a:solidFill>
            <a:prstDash val="solid"/>
          </a:ln>
        </p:spPr>
      </p:sp>
      <p:sp>
        <p:nvSpPr>
          <p:cNvPr id="11" name="timeline-year-1">
            <a:extLst xmlns:a="http://schemas.openxmlformats.org/drawingml/2006/main">
              <a:ext uri="{FF2B5EF4-FFF2-40B4-BE49-F238E27FC236}">
                <a16:creationId xmlns:a16="http://schemas.microsoft.com/office/drawing/2014/main" id="{9591E0B4-4AB9-4155-91BD-CE9BD2F7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7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2028</a:t>
            </a:r>
          </a:p>
        </p:txBody>
      </p:sp>
      <p:sp>
        <p:nvSpPr>
          <p:cNvPr id="12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8F3370E1-3B0D-492C-895B-A3FEE3BD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863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First sales</a:t>
            </a:r>
          </a:p>
        </p:txBody>
      </p:sp>
      <p:sp>
        <p:nvSpPr>
          <p:cNvPr id="13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613D2E18-CF00-44FA-896E-8795A4CA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1970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605 t in the first commercial phase</a:t>
            </a:r>
          </a:p>
        </p:txBody>
      </p:sp>
      <p:sp>
        <p:nvSpPr>
          <p:cNvPr id="14" name="timeline-tick-2">
            <a:extLst xmlns:a="http://schemas.openxmlformats.org/drawingml/2006/main">
              <a:ext uri="{FF2B5EF4-FFF2-40B4-BE49-F238E27FC236}">
                <a16:creationId xmlns:a16="http://schemas.microsoft.com/office/drawing/2014/main" id="{39C6230F-610F-48D9-8BC8-BFA8169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41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0598B84B-FBE3-4562-9637-9408DFC8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28575">
            <a:solidFill>
              <a:srgbClr val="074154"/>
            </a:solidFill>
            <a:prstDash val="solid"/>
          </a:ln>
        </p:spPr>
      </p:sp>
      <p:sp>
        <p:nvSpPr>
          <p:cNvPr id="16" name="timeline-year-2">
            <a:extLst xmlns:a="http://schemas.openxmlformats.org/drawingml/2006/main">
              <a:ext uri="{FF2B5EF4-FFF2-40B4-BE49-F238E27FC236}">
                <a16:creationId xmlns:a16="http://schemas.microsoft.com/office/drawing/2014/main" id="{511455D6-D83E-42AC-AE5F-8F3B4A77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2887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7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2029–30</a:t>
            </a:r>
          </a:p>
        </p:txBody>
      </p:sp>
      <p:sp>
        <p:nvSpPr>
          <p:cNvPr id="17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0C852A8A-87C4-4B58-A3A7-6DC6A0C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863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Scale</a:t>
            </a:r>
          </a:p>
        </p:txBody>
      </p:sp>
      <p:sp>
        <p:nvSpPr>
          <p:cNvPr id="18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6BA7EEC5-934F-4987-9871-839EB2A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1970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Production ramps to 1,744 t</a:t>
            </a:r>
          </a:p>
        </p:txBody>
      </p:sp>
      <p:sp>
        <p:nvSpPr>
          <p:cNvPr id="19" name="timeline-tick-3">
            <a:extLst xmlns:a="http://schemas.openxmlformats.org/drawingml/2006/main">
              <a:ext uri="{FF2B5EF4-FFF2-40B4-BE49-F238E27FC236}">
                <a16:creationId xmlns:a16="http://schemas.microsoft.com/office/drawing/2014/main" id="{A562C03B-283B-40E6-ADDC-CFAEC3B6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14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A2F270AF-535E-4C31-A337-85D0C725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86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21" name="timeline-year-3">
            <a:extLst xmlns:a="http://schemas.openxmlformats.org/drawingml/2006/main">
              <a:ext uri="{FF2B5EF4-FFF2-40B4-BE49-F238E27FC236}">
                <a16:creationId xmlns:a16="http://schemas.microsoft.com/office/drawing/2014/main" id="{2316FA57-750B-4C86-8CC5-DAEC8E7A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28875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70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2031+</a:t>
            </a:r>
          </a:p>
        </p:txBody>
      </p:sp>
      <p:sp>
        <p:nvSpPr>
          <p:cNvPr id="22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71C6FF21-EE95-4B50-8E21-AE13ABCA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68630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87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Full capacity</a:t>
            </a:r>
          </a:p>
        </p:txBody>
      </p:sp>
      <p:sp>
        <p:nvSpPr>
          <p:cNvPr id="23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4E3FD4B8-C726-4555-B117-4B8C32F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21970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2,790 t and 71 direct jobs</a:t>
            </a:r>
          </a:p>
        </p:txBody>
      </p:sp>
    </p:spTree>
    <p:extLst>
      <p:ext uri="{BB962C8B-B14F-4D97-AF65-F5344CB8AC3E}">
        <p14:creationId xmlns:p14="http://schemas.microsoft.com/office/powerpoint/2010/main" val="191344033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4733F833-5335-4EA0-AC54-5A4293B2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CAPACITY / SCALE-UP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2A9B46F-26AD-434B-B0B5-FC41EFE7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The operating plan reaches 2,790 tonnes by 2031.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14400" y="2019300"/>
          <a:ext xmlns:a="http://schemas.openxmlformats.org/drawingml/2006/main" cx="1181100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a503724d2b4b9f"/>
          </a:graphicData>
        </a:graphic>
      </p:graphicFrame>
      <p:sp>
        <p:nvSpPr>
          <p:cNvPr id="4" name="bar-chart-note">
            <a:extLst xmlns:a="http://schemas.openxmlformats.org/drawingml/2006/main">
              <a:ext uri="{FF2B5EF4-FFF2-40B4-BE49-F238E27FC236}">
                <a16:creationId xmlns:a16="http://schemas.microsoft.com/office/drawing/2014/main" id="{F4F84E2F-D39B-40C2-BF7E-7D5B06A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34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Editable chart — right-click → Edit Data to replace the example series.</a:t>
            </a:r>
          </a:p>
        </p:txBody>
      </p:sp>
    </p:spTree>
    <p:extLst>
      <p:ext uri="{BB962C8B-B14F-4D97-AF65-F5344CB8AC3E}">
        <p14:creationId xmlns:p14="http://schemas.microsoft.com/office/powerpoint/2010/main" val="94476456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EE9084EF-9AE2-4F78-A9D0-3B3247C3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WORKFORCE / DEVELOPMENT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A9B57E80-2951-4641-8ADC-608D9110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Employment grows with operating capacity.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742950" y="2076450"/>
          <a:ext xmlns:a="http://schemas.openxmlformats.org/drawingml/2006/main" cx="8001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442663ac084a64"/>
          </a:graphicData>
        </a:graphic>
      </p:graphicFrame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508CA856-544A-4077-823F-6A032E16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66950"/>
            <a:ext cx="314325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0B3242"/>
                </a:solidFill>
              </a:rPr>
              <a:t>What the chart means</a:t>
            </a:r>
          </a:p>
          <a:p xmlns:a="http://schemas.openxmlformats.org/drawingml/2006/main">
            <a:pPr marL="22" indent="-12" algn="l">
              <a:lnSpc>
                <a:spcPct val="115000"/>
              </a:lnSpc>
              <a:spcAft>
                <a:spcPts val="10"/>
              </a:spcAft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71 direct roles at full capacity</a:t>
            </a:r>
          </a:p>
          <a:p xmlns:a="http://schemas.openxmlformats.org/drawingml/2006/main">
            <a:pPr marL="22" indent="-12" algn="l">
              <a:lnSpc>
                <a:spcPct val="115000"/>
              </a:lnSpc>
              <a:spcAft>
                <a:spcPts val="10"/>
              </a:spcAft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A minimum 40% commitment for women</a:t>
            </a:r>
          </a:p>
          <a:p xmlns:a="http://schemas.openxmlformats.org/drawingml/2006/main">
            <a:pPr marL="22" indent="-12" algn="l">
              <a:lnSpc>
                <a:spcPct val="115000"/>
              </a:lnSpc>
              <a:spcAft>
                <a:spcPts val="10"/>
              </a:spcAft>
              <a:buNone/>
              <a:def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Skills grow with each operating phase</a:t>
            </a:r>
          </a:p>
        </p:txBody>
      </p:sp>
      <p:sp>
        <p:nvSpPr>
          <p:cNvPr id="5" name="line-chart-note">
            <a:extLst xmlns:a="http://schemas.openxmlformats.org/drawingml/2006/main">
              <a:ext uri="{FF2B5EF4-FFF2-40B4-BE49-F238E27FC236}">
                <a16:creationId xmlns:a16="http://schemas.microsoft.com/office/drawing/2014/main" id="{D979B51A-3574-4737-AAA5-FE0C76E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Illustrative template data — replace with verified figures before presenting.</a:t>
            </a:r>
          </a:p>
        </p:txBody>
      </p:sp>
    </p:spTree>
    <p:extLst>
      <p:ext uri="{BB962C8B-B14F-4D97-AF65-F5344CB8AC3E}">
        <p14:creationId xmlns:p14="http://schemas.microsoft.com/office/powerpoint/2010/main" val="125055322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D6D55CD3-EBD7-4606-9BAD-458565C0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PORTFOLIO / PRODUCT MIX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C24C53C-FAC9-439B-816D-58D3BE82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Three species balance demand and operating resilience.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57250" y="2000250"/>
          <a:ext xmlns:a="http://schemas.openxmlformats.org/drawingml/2006/main" cx="5905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d214fa5e6147ea"/>
          </a:graphicData>
        </a:graphic>
      </p:graphicFrame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12D965D1-5FE3-4CC0-B0D7-F7ED11CA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47900"/>
            <a:ext cx="4953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0B3242"/>
                </a:solidFill>
              </a:rPr>
              <a:t>Use the headline to state the conclusion—not the chart type.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This layout works for portfolio mix, allocation, audience composition or any whole-to-part story with three to five categories.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0B3242"/>
                </a:solidFill>
              </a:rPr>
              <a:t>Right-click → Edit Data</a:t>
            </a:r>
            <a:r>
              <a:rPr sz="1650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 to replace the example values.</a:t>
            </a:r>
          </a:p>
        </p:txBody>
      </p:sp>
    </p:spTree>
    <p:extLst>
      <p:ext uri="{BB962C8B-B14F-4D97-AF65-F5344CB8AC3E}">
        <p14:creationId xmlns:p14="http://schemas.microsoft.com/office/powerpoint/2010/main" val="35055706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CC56118D-B38B-4E1E-8517-EC893669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DECISION / COMPARISON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92980B79-8226-4664-B3C6-190EF885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Compare options against the criteria that matter.</a:t>
            </a:r>
          </a:p>
        </p:txBody>
      </p:sp>
      <p:sp>
        <p:nvSpPr>
          <p:cNvPr id="3" name="compare-panel-0">
            <a:extLst xmlns:a="http://schemas.openxmlformats.org/drawingml/2006/main">
              <a:ext uri="{FF2B5EF4-FFF2-40B4-BE49-F238E27FC236}">
                <a16:creationId xmlns:a16="http://schemas.microsoft.com/office/drawing/2014/main" id="{1FA48067-849F-4EFC-B5B5-9D41FCBC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59436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4"/>
          </a:solidFill>
          <a:ln xmlns:a="http://schemas.openxmlformats.org/drawingml/2006/main" w="9525">
            <a:solidFill>
              <a:srgbClr val="B9CDD3"/>
            </a:solidFill>
            <a:prstDash val="solid"/>
          </a:ln>
        </p:spPr>
      </p:sp>
      <p:sp>
        <p:nvSpPr>
          <p:cNvPr id="4" name="compare-label-0">
            <a:extLst xmlns:a="http://schemas.openxmlformats.org/drawingml/2006/main">
              <a:ext uri="{FF2B5EF4-FFF2-40B4-BE49-F238E27FC236}">
                <a16:creationId xmlns:a16="http://schemas.microsoft.com/office/drawing/2014/main" id="{0DD146C8-9BE2-4F38-AE48-73FE33DA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OPTION A</a:t>
            </a:r>
          </a:p>
        </p:txBody>
      </p:sp>
      <p:sp>
        <p:nvSpPr>
          <p:cNvPr id="5" name="compare-title-0">
            <a:extLst xmlns:a="http://schemas.openxmlformats.org/drawingml/2006/main">
              <a:ext uri="{FF2B5EF4-FFF2-40B4-BE49-F238E27FC236}">
                <a16:creationId xmlns:a16="http://schemas.microsoft.com/office/drawing/2014/main" id="{0FB57DCF-CED2-457F-BEE0-46192881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Current approach</a:t>
            </a:r>
          </a:p>
        </p:txBody>
      </p:sp>
      <p:sp>
        <p:nvSpPr>
          <p:cNvPr id="6" name="compare-dash-0-0">
            <a:extLst xmlns:a="http://schemas.openxmlformats.org/drawingml/2006/main">
              <a:ext uri="{FF2B5EF4-FFF2-40B4-BE49-F238E27FC236}">
                <a16:creationId xmlns:a16="http://schemas.microsoft.com/office/drawing/2014/main" id="{058A7AE3-C156-4957-9CF8-EF21A2D9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e-item-0-0">
            <a:extLst xmlns:a="http://schemas.openxmlformats.org/drawingml/2006/main">
              <a:ext uri="{FF2B5EF4-FFF2-40B4-BE49-F238E27FC236}">
                <a16:creationId xmlns:a16="http://schemas.microsoft.com/office/drawing/2014/main" id="{876A4091-209C-46A5-805C-C0E05D81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Fragmented responsibility</a:t>
            </a:r>
          </a:p>
        </p:txBody>
      </p:sp>
      <p:sp>
        <p:nvSpPr>
          <p:cNvPr id="8" name="compare-dash-0-1">
            <a:extLst xmlns:a="http://schemas.openxmlformats.org/drawingml/2006/main">
              <a:ext uri="{FF2B5EF4-FFF2-40B4-BE49-F238E27FC236}">
                <a16:creationId xmlns:a16="http://schemas.microsoft.com/office/drawing/2014/main" id="{2C9F47CC-C23F-45A6-875C-D391D403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-item-0-1">
            <a:extLst xmlns:a="http://schemas.openxmlformats.org/drawingml/2006/main">
              <a:ext uri="{FF2B5EF4-FFF2-40B4-BE49-F238E27FC236}">
                <a16:creationId xmlns:a16="http://schemas.microsoft.com/office/drawing/2014/main" id="{06FD6D71-57C3-44C8-86D2-CA22F208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Multiple handoffs</a:t>
            </a:r>
          </a:p>
        </p:txBody>
      </p:sp>
      <p:sp>
        <p:nvSpPr>
          <p:cNvPr id="10" name="compare-dash-0-2">
            <a:extLst xmlns:a="http://schemas.openxmlformats.org/drawingml/2006/main">
              <a:ext uri="{FF2B5EF4-FFF2-40B4-BE49-F238E27FC236}">
                <a16:creationId xmlns:a16="http://schemas.microsoft.com/office/drawing/2014/main" id="{14F93EE9-1502-49C8-ADD0-D7FC83CD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e-item-0-2">
            <a:extLst xmlns:a="http://schemas.openxmlformats.org/drawingml/2006/main">
              <a:ext uri="{FF2B5EF4-FFF2-40B4-BE49-F238E27FC236}">
                <a16:creationId xmlns:a16="http://schemas.microsoft.com/office/drawing/2014/main" id="{B5F634CA-E24B-4CD4-BF69-4AAAFA69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Variable documentation</a:t>
            </a:r>
          </a:p>
        </p:txBody>
      </p:sp>
      <p:sp>
        <p:nvSpPr>
          <p:cNvPr id="12" name="compare-panel-1">
            <a:extLst xmlns:a="http://schemas.openxmlformats.org/drawingml/2006/main">
              <a:ext uri="{FF2B5EF4-FFF2-40B4-BE49-F238E27FC236}">
                <a16:creationId xmlns:a16="http://schemas.microsoft.com/office/drawing/2014/main" id="{CBA327F2-6F08-469B-9963-EAF7432B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59436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7ED"/>
          </a:solidFill>
          <a:ln xmlns:a="http://schemas.openxmlformats.org/drawingml/2006/main" w="28575">
            <a:solidFill>
              <a:srgbClr val="0A6887"/>
            </a:solidFill>
            <a:prstDash val="solid"/>
          </a:ln>
        </p:spPr>
      </p:sp>
      <p:sp>
        <p:nvSpPr>
          <p:cNvPr id="13" name="compare-label-1">
            <a:extLst xmlns:a="http://schemas.openxmlformats.org/drawingml/2006/main">
              <a:ext uri="{FF2B5EF4-FFF2-40B4-BE49-F238E27FC236}">
                <a16:creationId xmlns:a16="http://schemas.microsoft.com/office/drawing/2014/main" id="{F794BA3A-0CCA-486D-8DEC-A24A707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OPTION B / RECOMMENDED</a:t>
            </a:r>
          </a:p>
        </p:txBody>
      </p:sp>
      <p:sp>
        <p:nvSpPr>
          <p:cNvPr id="14" name="compare-title-1">
            <a:extLst xmlns:a="http://schemas.openxmlformats.org/drawingml/2006/main">
              <a:ext uri="{FF2B5EF4-FFF2-40B4-BE49-F238E27FC236}">
                <a16:creationId xmlns:a16="http://schemas.microsoft.com/office/drawing/2014/main" id="{C294B483-D650-43FC-BD58-172A21B0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6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Integrated chain</a:t>
            </a:r>
          </a:p>
        </p:txBody>
      </p:sp>
      <p:sp>
        <p:nvSpPr>
          <p:cNvPr id="15" name="compare-dash-1-0">
            <a:extLst xmlns:a="http://schemas.openxmlformats.org/drawingml/2006/main">
              <a:ext uri="{FF2B5EF4-FFF2-40B4-BE49-F238E27FC236}">
                <a16:creationId xmlns:a16="http://schemas.microsoft.com/office/drawing/2014/main" id="{B300FA98-63F5-44FE-A04D-980C3DA0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100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mpare-item-1-0">
            <a:extLst xmlns:a="http://schemas.openxmlformats.org/drawingml/2006/main">
              <a:ext uri="{FF2B5EF4-FFF2-40B4-BE49-F238E27FC236}">
                <a16:creationId xmlns:a16="http://schemas.microsoft.com/office/drawing/2014/main" id="{D8CFD69E-B3D8-494F-927F-16DB8F6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766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One accountable operator</a:t>
            </a:r>
          </a:p>
        </p:txBody>
      </p:sp>
      <p:sp>
        <p:nvSpPr>
          <p:cNvPr id="17" name="compare-dash-1-1">
            <a:extLst xmlns:a="http://schemas.openxmlformats.org/drawingml/2006/main">
              <a:ext uri="{FF2B5EF4-FFF2-40B4-BE49-F238E27FC236}">
                <a16:creationId xmlns:a16="http://schemas.microsoft.com/office/drawing/2014/main" id="{C6F31E9D-CE6E-4D7B-B407-094938C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e-item-1-1">
            <a:extLst xmlns:a="http://schemas.openxmlformats.org/drawingml/2006/main">
              <a:ext uri="{FF2B5EF4-FFF2-40B4-BE49-F238E27FC236}">
                <a16:creationId xmlns:a16="http://schemas.microsoft.com/office/drawing/2014/main" id="{B4CCDE4F-3CDA-4F8D-97AF-8FE73C39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Controlled cold chain</a:t>
            </a:r>
          </a:p>
        </p:txBody>
      </p:sp>
      <p:sp>
        <p:nvSpPr>
          <p:cNvPr id="19" name="compare-dash-1-2">
            <a:extLst xmlns:a="http://schemas.openxmlformats.org/drawingml/2006/main">
              <a:ext uri="{FF2B5EF4-FFF2-40B4-BE49-F238E27FC236}">
                <a16:creationId xmlns:a16="http://schemas.microsoft.com/office/drawing/2014/main" id="{9A090EE6-98F1-4343-91AA-CFF2BFE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673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mpare-item-1-2">
            <a:extLst xmlns:a="http://schemas.openxmlformats.org/drawingml/2006/main">
              <a:ext uri="{FF2B5EF4-FFF2-40B4-BE49-F238E27FC236}">
                <a16:creationId xmlns:a16="http://schemas.microsoft.com/office/drawing/2014/main" id="{14484B5D-26F5-4006-B2D6-BE40E3B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339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One documented standard</a:t>
            </a:r>
          </a:p>
        </p:txBody>
      </p:sp>
    </p:spTree>
    <p:extLst>
      <p:ext uri="{BB962C8B-B14F-4D97-AF65-F5344CB8AC3E}">
        <p14:creationId xmlns:p14="http://schemas.microsoft.com/office/powerpoint/2010/main" val="94425901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B7711361-3492-405C-90C7-8923EDA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PLAN / DELIVERY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C63BA568-1DB1-4234-9A10-B110592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Make ownership and timing unambiguous.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42950" y="2114550"/>
          <a:ext xmlns:a="http://schemas.openxmlformats.org/drawingml/2006/main" cx="12230100" cy="3790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4883"/>
                <a:gridCol w="2329543"/>
                <a:gridCol w="1863634"/>
                <a:gridCol w="4892040"/>
              </a:tblGrid>
              <a:tr h="758190"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Workstream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074154"/>
                    </a:solidFill>
                  </a:tcPr>
                </a:tc>
              </a:tr>
              <a:tr h="758190"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Infrastructure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2026–27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Port and offshore readiness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Certification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Quality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2026–27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ONSSA and export documentation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  <a:tr h="758190"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Commercial launch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Trade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2028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First client deliveries</a:t>
                      </a:r>
                    </a:p>
                  </a:txBody>
                  <a:tcPr marL="91440" marR="91440" marT="45720" marB="45720">
                    <a:solidFill>
                      <a:srgbClr val="FBF9F4"/>
                    </a:solidFill>
                  </a:tcPr>
                </a:tc>
              </a:tr>
              <a:tr h="758190"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1">
                          <a:solidFill>
                            <a:srgbClr val="074154"/>
                          </a:solidFill>
                          <a:latin typeface="DM Sans"/>
                          <a:ea typeface="DM Sans"/>
                          <a:cs typeface="DM Sans"/>
                        </a:rPr>
                        <a:t>Scale-up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Executive team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2029–31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  <a:tc>
                  <a:txBody>
                    <a:bodyPr lIns="114300" tIns="95250" rIns="114300" bIns="95250" anchor="ctr"/>
                    <a:lstStyle/>
                    <a:p>
                      <a:r>
                        <a:rPr sz="1200" b="0">
                          <a:solidFill>
                            <a:srgbClr val="0B3242"/>
                          </a:solidFill>
                          <a:latin typeface="DM Sans"/>
                          <a:ea typeface="DM Sans"/>
                          <a:cs typeface="DM Sans"/>
                        </a:rPr>
                        <a:t>Full operating capacity</a:t>
                      </a:r>
                    </a:p>
                  </a:txBody>
                  <a:tcPr marL="91440" marR="91440" marT="45720" marB="45720"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table-note">
            <a:extLst xmlns:a="http://schemas.openxmlformats.org/drawingml/2006/main">
              <a:ext uri="{FF2B5EF4-FFF2-40B4-BE49-F238E27FC236}">
                <a16:creationId xmlns:a16="http://schemas.microsoft.com/office/drawing/2014/main" id="{F6F9F9B1-2836-4282-8784-B0A61B16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Editable table — keep to five or fewer rows on a standard slide.</a:t>
            </a:r>
          </a:p>
        </p:txBody>
      </p:sp>
    </p:spTree>
    <p:extLst>
      <p:ext uri="{BB962C8B-B14F-4D97-AF65-F5344CB8AC3E}">
        <p14:creationId xmlns:p14="http://schemas.microsoft.com/office/powerpoint/2010/main" val="5389529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9C68E060-B787-4453-B647-DA621BF8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LOCATION / RAS EL MA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05C55282-4119-4508-9AFE-61D27716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The site connects natural advantage to export access.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f93dbaa864f25"/>
          <a:srcRect xmlns:a="http://schemas.openxmlformats.org/drawingml/2006/main" l="8590" t="0" r="85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2038350"/>
            <a:ext cx="7162800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location-accent">
            <a:extLst xmlns:a="http://schemas.openxmlformats.org/drawingml/2006/main">
              <a:ext uri="{FF2B5EF4-FFF2-40B4-BE49-F238E27FC236}">
                <a16:creationId xmlns:a16="http://schemas.microsoft.com/office/drawing/2014/main" id="{907FD699-592C-4DAD-9AA5-B14CD5F3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8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67AABAF3-63CF-4C78-9384-3F200A7F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62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1">
                <a:solidFill>
                  <a:srgbClr val="0B3242"/>
                </a:solidFill>
              </a:rPr>
              <a:t>Ras El Ma, Oriental Region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Direct Mediterranean access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375-hectare offshore concession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Port connection for fresh logistics</a:t>
            </a:r>
          </a:p>
          <a:p xmlns:a="http://schemas.openxmlformats.org/drawingml/2006/main">
            <a:pPr marL="22" indent="-12" algn="l">
              <a:lnSpc>
                <a:spcPct val="116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Proximity to European markets</a:t>
            </a:r>
          </a:p>
        </p:txBody>
      </p:sp>
    </p:spTree>
    <p:extLst>
      <p:ext uri="{BB962C8B-B14F-4D97-AF65-F5344CB8AC3E}">
        <p14:creationId xmlns:p14="http://schemas.microsoft.com/office/powerpoint/2010/main" val="30702030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0D00DA35-FE50-441E-9B1A-F31D556F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LEADERSHIP / PROFILE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158D104F-D09A-4431-AE35-AD179A03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Leadership rooted in execution.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c905804644c06"/>
          <a:srcRect xmlns:a="http://schemas.openxmlformats.org/drawingml/2006/main" l="0" t="20199" r="0" b="20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00250"/>
            <a:ext cx="5619750" cy="4476750"/>
          </a:xfrm>
          <a:prstGeom xmlns:a="http://schemas.openxmlformats.org/drawingml/2006/main" prst="rect">
            <a:avLst/>
          </a:prstGeom>
        </p:spPr>
      </p:pic>
      <p:sp>
        <p:nvSpPr>
          <p:cNvPr id="4" name="profile-name">
            <a:extLst xmlns:a="http://schemas.openxmlformats.org/drawingml/2006/main">
              <a:ext uri="{FF2B5EF4-FFF2-40B4-BE49-F238E27FC236}">
                <a16:creationId xmlns:a16="http://schemas.microsoft.com/office/drawing/2014/main" id="{7FA2B599-35C7-4373-9BB4-B825A9AC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5381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2925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Name Surname</a:t>
            </a:r>
          </a:p>
        </p:txBody>
      </p:sp>
      <p:sp>
        <p:nvSpPr>
          <p:cNvPr id="5" name="profile-role">
            <a:extLst xmlns:a="http://schemas.openxmlformats.org/drawingml/2006/main">
              <a:ext uri="{FF2B5EF4-FFF2-40B4-BE49-F238E27FC236}">
                <a16:creationId xmlns:a16="http://schemas.microsoft.com/office/drawing/2014/main" id="{72534B63-5359-40A1-81B9-20E4D0F0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rPr sz="1050" b="1" i="0">
                <a:solidFill>
                  <a:srgbClr val="0A6887"/>
                </a:solidFill>
                <a:latin typeface="DM Sans"/>
                <a:ea typeface="DM Sans"/>
                <a:cs typeface="DM Sans"/>
              </a:rPr>
              <a:t>TITLE / FUNCTION</a:t>
            </a:r>
          </a:p>
        </p:txBody>
      </p:sp>
      <p:sp>
        <p:nvSpPr>
          <p:cNvPr id="6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4727A34B-4D1B-4CD1-9ACF-6615A3D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90900"/>
            <a:ext cx="5381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Use a short biography focused on relevant experience, operating credibility and the person’s role in the decision at hand.</a:t>
            </a:r>
          </a:p>
          <a:p xmlns:a="http://schemas.openxmlformats.org/drawingml/2006/main">
            <a:pPr algn="l">
              <a:lnSpc>
                <a:spcPct val="117000"/>
              </a:lnSpc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Add two or three proof points rather than a full career history.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Relevant experience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Specific responsibility</a:t>
            </a:r>
          </a:p>
          <a:p xmlns:a="http://schemas.openxmlformats.org/drawingml/2006/main">
            <a:pPr marL="22" indent="-12" algn="l">
              <a:lnSpc>
                <a:spcPct val="117000"/>
              </a:lnSpc>
              <a:spcAft>
                <a:spcPts val="10"/>
              </a:spcAft>
              <a:buNone/>
              <a:def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0B3242"/>
                </a:solidFill>
                <a:latin typeface="DM Sans"/>
                <a:ea typeface="DM Sans"/>
                <a:cs typeface="DM Sans"/>
              </a:rPr>
              <a:t>Decision or outcome owned</a:t>
            </a:r>
          </a:p>
        </p:txBody>
      </p:sp>
    </p:spTree>
    <p:extLst>
      <p:ext uri="{BB962C8B-B14F-4D97-AF65-F5344CB8AC3E}">
        <p14:creationId xmlns:p14="http://schemas.microsoft.com/office/powerpoint/2010/main" val="203157646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ntent-subtitle-0">
            <a:extLst xmlns:a="http://schemas.openxmlformats.org/drawingml/2006/main">
              <a:ext uri="{FF2B5EF4-FFF2-40B4-BE49-F238E27FC236}">
                <a16:creationId xmlns:a16="http://schemas.microsoft.com/office/drawing/2014/main" id="{7C52AF1F-3ED1-4255-BE1B-163DB27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A6887"/>
                </a:solidFill>
                <a:latin typeface="DM Sans"/>
                <a:ea typeface="DM Sans"/>
                <a:cs typeface="DM Sans"/>
              </a:defRPr>
            </a:pPr>
            <a:r>
              <a:t>PROOF / PHOTOGRAPHY</a:t>
            </a:r>
          </a:p>
        </p:txBody>
      </p:sp>
      <p:sp>
        <p:nvSpPr>
          <p:cNvPr id="2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ECF67ADC-F949-4E95-8858-631160DE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53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t>Show the system through evidence, not decoration.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2761d08bb4355"/>
          <a:srcRect xmlns:a="http://schemas.openxmlformats.org/drawingml/2006/main" l="14620" t="0" r="14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95500"/>
            <a:ext cx="388620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gallery-title-0">
            <a:extLst xmlns:a="http://schemas.openxmlformats.org/drawingml/2006/main">
              <a:ext uri="{FF2B5EF4-FFF2-40B4-BE49-F238E27FC236}">
                <a16:creationId xmlns:a16="http://schemas.microsoft.com/office/drawing/2014/main" id="{32E07E5C-A93F-4B02-A011-A6C6EDE2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9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Offshore operations</a:t>
            </a:r>
          </a:p>
        </p:txBody>
      </p:sp>
      <p:sp>
        <p:nvSpPr>
          <p:cNvPr id="5" name="gallery-caption-0">
            <a:extLst xmlns:a="http://schemas.openxmlformats.org/drawingml/2006/main">
              <a:ext uri="{FF2B5EF4-FFF2-40B4-BE49-F238E27FC236}">
                <a16:creationId xmlns:a16="http://schemas.microsoft.com/office/drawing/2014/main" id="{771CDE1E-C67E-4402-8D9A-E2E59674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One sentence that explains what the image proves.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1cf5236814fc4"/>
          <a:srcRect xmlns:a="http://schemas.openxmlformats.org/drawingml/2006/main" l="14620" t="0" r="14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2095500"/>
            <a:ext cx="3886200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gallery-title-1">
            <a:extLst xmlns:a="http://schemas.openxmlformats.org/drawingml/2006/main">
              <a:ext uri="{FF2B5EF4-FFF2-40B4-BE49-F238E27FC236}">
                <a16:creationId xmlns:a16="http://schemas.microsoft.com/office/drawing/2014/main" id="{40E61B38-696A-4592-A314-00A45D72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05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9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Traceability</a:t>
            </a:r>
          </a:p>
        </p:txBody>
      </p:sp>
      <p:sp>
        <p:nvSpPr>
          <p:cNvPr id="8" name="gallery-caption-1">
            <a:extLst xmlns:a="http://schemas.openxmlformats.org/drawingml/2006/main">
              <a:ext uri="{FF2B5EF4-FFF2-40B4-BE49-F238E27FC236}">
                <a16:creationId xmlns:a16="http://schemas.microsoft.com/office/drawing/2014/main" id="{A790F8B4-3257-4508-95C0-00C886A6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038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One sentence that explains what the image proves.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eb18bc9e3493f"/>
          <a:srcRect xmlns:a="http://schemas.openxmlformats.org/drawingml/2006/main" l="14620" t="0" r="14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6850" y="2095500"/>
            <a:ext cx="38862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gallery-title-2">
            <a:extLst xmlns:a="http://schemas.openxmlformats.org/drawingml/2006/main">
              <a:ext uri="{FF2B5EF4-FFF2-40B4-BE49-F238E27FC236}">
                <a16:creationId xmlns:a16="http://schemas.microsoft.com/office/drawing/2014/main" id="{A5E6362A-C3D2-46B4-98DB-05165BCC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0545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074154"/>
                </a:solidFill>
                <a:latin typeface="Lora"/>
                <a:ea typeface="Lora"/>
                <a:cs typeface="Lora"/>
              </a:defRPr>
            </a:pPr>
            <a:r>
              <a:rPr sz="1950" b="1" i="0">
                <a:solidFill>
                  <a:srgbClr val="074154"/>
                </a:solidFill>
                <a:latin typeface="Lora"/>
                <a:ea typeface="Lora"/>
                <a:cs typeface="Lora"/>
              </a:rPr>
              <a:t>Cold chain</a:t>
            </a:r>
          </a:p>
        </p:txBody>
      </p:sp>
      <p:sp>
        <p:nvSpPr>
          <p:cNvPr id="11" name="gallery-caption-2">
            <a:extLst xmlns:a="http://schemas.openxmlformats.org/drawingml/2006/main">
              <a:ext uri="{FF2B5EF4-FFF2-40B4-BE49-F238E27FC236}">
                <a16:creationId xmlns:a16="http://schemas.microsoft.com/office/drawing/2014/main" id="{5BFB9B3A-713E-4217-80B7-53DAEC16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60388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defRPr>
            </a:pPr>
            <a:r>
              <a:rPr sz="1275" b="0" i="0">
                <a:solidFill>
                  <a:srgbClr val="3E5966"/>
                </a:solidFill>
                <a:latin typeface="DM Sans"/>
                <a:ea typeface="DM Sans"/>
                <a:cs typeface="DM Sans"/>
              </a:rPr>
              <a:t>One sentence that explains what the image proves.</a:t>
            </a:r>
          </a:p>
        </p:txBody>
      </p:sp>
    </p:spTree>
    <p:extLst>
      <p:ext uri="{BB962C8B-B14F-4D97-AF65-F5344CB8AC3E}">
        <p14:creationId xmlns:p14="http://schemas.microsoft.com/office/powerpoint/2010/main" val="65333596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6b863cab7458e"/>
          <a:stretch xmlns:a="http://schemas.openxmlformats.org/drawingml/2006/main"/>
        </p:blipFill>
        <p:spPr>
          <a:xfrm xmlns:a="http://schemas.openxmlformats.org/drawingml/2006/main">
            <a:off x="-1428750" y="762000"/>
            <a:ext cx="5334000" cy="5334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093a88be645eb"/>
          <a:stretch xmlns:a="http://schemas.openxmlformats.org/drawingml/2006/main"/>
        </p:blipFill>
        <p:spPr>
          <a:xfrm xmlns:a="http://schemas.openxmlformats.org/drawingml/2006/main">
            <a:off x="9906000" y="1339275"/>
            <a:ext cx="2667000" cy="1474351"/>
          </a:xfrm>
          <a:prstGeom xmlns:a="http://schemas.openxmlformats.org/drawingml/2006/main" prst="rect">
            <a:avLst/>
          </a:prstGeom>
        </p:spPr>
      </p:pic>
      <p:sp>
        <p:nvSpPr>
          <p:cNvPr id="3" name="content-title-0">
            <a:extLst xmlns:a="http://schemas.openxmlformats.org/drawingml/2006/main">
              <a:ext uri="{FF2B5EF4-FFF2-40B4-BE49-F238E27FC236}">
                <a16:creationId xmlns:a16="http://schemas.microsoft.com/office/drawing/2014/main" id="{84F9B278-6DEA-4145-B037-1C99CB6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6858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950" b="1" i="0">
                <a:solidFill>
                  <a:srgbClr val="FBF9F4"/>
                </a:solidFill>
                <a:latin typeface="Lora"/>
                <a:ea typeface="Lora"/>
                <a:cs typeface="Lora"/>
              </a:defRPr>
            </a:pPr>
            <a:r>
              <a:t>Let’s build the next chapter from Ras El Ma.</a:t>
            </a:r>
          </a:p>
        </p:txBody>
      </p:sp>
      <p:sp>
        <p:nvSpPr>
          <p:cNvPr id="4" name="content-body-0">
            <a:extLst xmlns:a="http://schemas.openxmlformats.org/drawingml/2006/main">
              <a:ext uri="{FF2B5EF4-FFF2-40B4-BE49-F238E27FC236}">
                <a16:creationId xmlns:a16="http://schemas.microsoft.com/office/drawing/2014/main" id="{D9D56B04-FE8F-4099-A388-2488B75B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579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hello@searulea.com</a:t>
            </a:r>
          </a:p>
          <a:p xmlns:a="http://schemas.openxmlformats.org/drawingml/2006/main">
            <a:pPr algn="r">
              <a:defRPr sz="1350" b="0" i="0">
                <a:solidFill>
                  <a:srgbClr val="D0E7ED"/>
                </a:solidFill>
                <a:latin typeface="DM Sans"/>
                <a:ea typeface="DM Sans"/>
                <a:cs typeface="DM Sans"/>
              </a:defRPr>
            </a:pPr>
            <a:r>
              <a:t>www.searulea.com</a:t>
            </a:r>
          </a:p>
        </p:txBody>
      </p:sp>
      <p:sp>
        <p:nvSpPr>
          <p:cNvPr id="5" name="closing-signature">
            <a:extLst xmlns:a="http://schemas.openxmlformats.org/drawingml/2006/main">
              <a:ext uri="{FF2B5EF4-FFF2-40B4-BE49-F238E27FC236}">
                <a16:creationId xmlns:a16="http://schemas.microsoft.com/office/drawing/2014/main" id="{0539B685-296E-41AD-9DFA-2AE07558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743700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 i="1">
                <a:solidFill>
                  <a:srgbClr val="D0E7ED"/>
                </a:solidFill>
                <a:latin typeface="Lora"/>
                <a:ea typeface="Lora"/>
                <a:cs typeface="Lora"/>
              </a:defRPr>
            </a:pPr>
            <a:r>
              <a:rPr sz="1650" b="0" i="1">
                <a:solidFill>
                  <a:srgbClr val="D0E7ED"/>
                </a:solidFill>
                <a:latin typeface="Lora"/>
                <a:ea typeface="Lora"/>
                <a:cs typeface="Lora"/>
              </a:rPr>
              <a:t>From our sea to your port.</a:t>
            </a:r>
          </a:p>
        </p:txBody>
      </p:sp>
    </p:spTree>
    <p:extLst>
      <p:ext uri="{BB962C8B-B14F-4D97-AF65-F5344CB8AC3E}">
        <p14:creationId xmlns:p14="http://schemas.microsoft.com/office/powerpoint/2010/main" val="451722633"/>
      </p:ext>
    </p:extLst>
  </p:cSld>
</p:sld>
</file>

<file path=ppt/theme/theme1.xml><?xml version="1.0" encoding="utf-8"?>
<a:theme xmlns:a="http://schemas.openxmlformats.org/drawingml/2006/main" name="ChatGPT">
  <a:themeElements>
    <a:clrScheme name="SEARULEA 2026">
      <a:dk1>
        <a:srgbClr val="04293A"/>
      </a:dk1>
      <a:lt1>
        <a:srgbClr val="FFFFFF"/>
      </a:lt1>
      <a:dk2>
        <a:srgbClr val="074154"/>
      </a:dk2>
      <a:lt2>
        <a:srgbClr val="FBF9F4"/>
      </a:lt2>
      <a:accent1>
        <a:srgbClr val="074154"/>
      </a:accent1>
      <a:accent2>
        <a:srgbClr val="0A6887"/>
      </a:accent2>
      <a:accent3>
        <a:srgbClr val="0C7190"/>
      </a:accent3>
      <a:accent4>
        <a:srgbClr val="D0E7ED"/>
      </a:accent4>
      <a:accent5>
        <a:srgbClr val="EFE8D8"/>
      </a:accent5>
      <a:accent6>
        <a:srgbClr val="D98E2B"/>
      </a:accent6>
      <a:hlink>
        <a:srgbClr val="0A6887"/>
      </a:hlink>
      <a:folHlink>
        <a:srgbClr val="0C719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ARULEA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2026-08-01T11:25:28.4570000Z</dcterms:created>
  <dcterms:modified xsi:type="dcterms:W3CDTF">2026-08-01T11:25:28.4570000Z</dcterms:modified>
</coreProperties>
</file>